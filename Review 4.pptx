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5" name="Title Text"/>
          <p:cNvSpPr txBox="1"/>
          <p:nvPr>
            <p:ph type="title"/>
          </p:nvPr>
        </p:nvSpPr>
        <p:spPr>
          <a:xfrm>
            <a:off x="1050877" y="1322386"/>
            <a:ext cx="10363201" cy="1470002"/>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2"/>
          </a:xfrm>
          <a:prstGeom prst="rect">
            <a:avLst/>
          </a:prstGeom>
        </p:spPr>
        <p:txBody>
          <a:bodyPr/>
          <a:lstStyle>
            <a:lvl1pPr marL="304800" indent="-228600" algn="ctr">
              <a:buClrTx/>
              <a:buSzTx/>
              <a:buFontTx/>
              <a:buNone/>
              <a:defRPr b="1" sz="2000">
                <a:solidFill>
                  <a:srgbClr val="17365D"/>
                </a:solidFill>
              </a:defRPr>
            </a:lvl1pPr>
            <a:lvl2pPr marL="304800" indent="76200" algn="ctr">
              <a:buClrTx/>
              <a:buSzTx/>
              <a:buFontTx/>
              <a:buNone/>
              <a:defRPr b="1" sz="2000">
                <a:solidFill>
                  <a:srgbClr val="17365D"/>
                </a:solidFill>
              </a:defRPr>
            </a:lvl2pPr>
            <a:lvl3pPr marL="304800" indent="76200" algn="ctr">
              <a:buClrTx/>
              <a:buSzTx/>
              <a:buFontTx/>
              <a:buNone/>
              <a:defRPr b="1" sz="2000">
                <a:solidFill>
                  <a:srgbClr val="17365D"/>
                </a:solidFill>
              </a:defRPr>
            </a:lvl3pPr>
            <a:lvl4pPr marL="304800" indent="76200" algn="ctr">
              <a:buClrTx/>
              <a:buSzTx/>
              <a:buFontTx/>
              <a:buNone/>
              <a:defRPr b="1" sz="2000">
                <a:solidFill>
                  <a:srgbClr val="17365D"/>
                </a:solidFill>
              </a:defRPr>
            </a:lvl4pPr>
            <a:lvl5pPr marL="304800" indent="762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35" name="Title Text"/>
          <p:cNvSpPr txBox="1"/>
          <p:nvPr>
            <p:ph type="title"/>
          </p:nvPr>
        </p:nvSpPr>
        <p:spPr>
          <a:xfrm>
            <a:off x="963084" y="4406903"/>
            <a:ext cx="10363201" cy="1362002"/>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2"/>
          </a:xfrm>
          <a:prstGeom prst="rect">
            <a:avLst/>
          </a:prstGeom>
        </p:spPr>
        <p:txBody>
          <a:bodyPr anchor="b"/>
          <a:lstStyle>
            <a:lvl1pPr marL="0" indent="228600">
              <a:buClrTx/>
              <a:buSzTx/>
              <a:buFontTx/>
              <a:buNone/>
              <a:defRPr sz="2000">
                <a:solidFill>
                  <a:srgbClr val="888888"/>
                </a:solidFill>
              </a:defRPr>
            </a:lvl1pPr>
            <a:lvl2pPr marL="0" indent="228600">
              <a:buClrTx/>
              <a:buSzTx/>
              <a:buFontTx/>
              <a:buNone/>
              <a:defRPr sz="2000">
                <a:solidFill>
                  <a:srgbClr val="888888"/>
                </a:solidFill>
              </a:defRPr>
            </a:lvl2pPr>
            <a:lvl3pPr marL="0" indent="228600">
              <a:buClrTx/>
              <a:buSzTx/>
              <a:buFontTx/>
              <a:buNone/>
              <a:defRPr sz="2000">
                <a:solidFill>
                  <a:srgbClr val="888888"/>
                </a:solidFill>
              </a:defRPr>
            </a:lvl3pPr>
            <a:lvl4pPr marL="0" indent="228600">
              <a:buClrTx/>
              <a:buSzTx/>
              <a:buFontTx/>
              <a:buNone/>
              <a:defRPr sz="2000">
                <a:solidFill>
                  <a:srgbClr val="888888"/>
                </a:solidFill>
              </a:defRPr>
            </a:lvl4pPr>
            <a:lvl5pPr marL="0" indent="2286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2"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8" y="1600202"/>
            <a:ext cx="5384703" cy="4526103"/>
          </a:xfrm>
          <a:prstGeom prst="rect">
            <a:avLst/>
          </a:prstGeom>
        </p:spPr>
        <p:txBody>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2"/>
          </a:xfrm>
          <a:prstGeom prst="rect">
            <a:avLst/>
          </a:prstGeom>
        </p:spPr>
        <p:txBody>
          <a:bodyPr anchor="b"/>
          <a:lstStyle>
            <a:lvl1pPr marL="0" indent="228600">
              <a:buClrTx/>
              <a:buSzTx/>
              <a:buFontTx/>
              <a:buNone/>
              <a:defRPr b="1"/>
            </a:lvl1pPr>
            <a:lvl2pPr marL="0" indent="228600">
              <a:buClrTx/>
              <a:buSzTx/>
              <a:buFontTx/>
              <a:buNone/>
              <a:defRPr b="1"/>
            </a:lvl2pPr>
            <a:lvl3pPr marL="0" indent="228600">
              <a:buClrTx/>
              <a:buSzTx/>
              <a:buFontTx/>
              <a:buNone/>
              <a:defRPr b="1"/>
            </a:lvl3pPr>
            <a:lvl4pPr marL="0" indent="228600">
              <a:buClrTx/>
              <a:buSzTx/>
              <a:buFontTx/>
              <a:buNone/>
              <a:defRPr b="1"/>
            </a:lvl4pPr>
            <a:lvl5pPr marL="0" indent="2286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2" cy="639902"/>
          </a:xfrm>
          <a:prstGeom prst="rect">
            <a:avLst/>
          </a:prstGeom>
        </p:spPr>
        <p:txBody>
          <a:bodyPr anchor="b"/>
          <a:lstStyle/>
          <a:p>
            <a:pPr/>
          </a:p>
        </p:txBody>
      </p:sp>
      <p:sp>
        <p:nvSpPr>
          <p:cNvPr id="62" name="Google Shape;43;p6"/>
          <p:cNvSpPr txBox="1"/>
          <p:nvPr>
            <p:ph type="body" sz="half" idx="23"/>
          </p:nvPr>
        </p:nvSpPr>
        <p:spPr>
          <a:xfrm>
            <a:off x="6193368" y="2174875"/>
            <a:ext cx="5388902"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72" name="Title Text"/>
          <p:cNvSpPr txBox="1"/>
          <p:nvPr>
            <p:ph type="title"/>
          </p:nvPr>
        </p:nvSpPr>
        <p:spPr>
          <a:xfrm>
            <a:off x="3860800" y="274638"/>
            <a:ext cx="7721700" cy="487502"/>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7" y="139873"/>
            <a:ext cx="9686796"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92" name="Title Text"/>
          <p:cNvSpPr txBox="1"/>
          <p:nvPr>
            <p:ph type="title"/>
          </p:nvPr>
        </p:nvSpPr>
        <p:spPr>
          <a:xfrm>
            <a:off x="609601" y="273050"/>
            <a:ext cx="4011003"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2"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0" y="1435102"/>
            <a:ext cx="4011004" cy="4691103"/>
          </a:xfrm>
          <a:prstGeom prst="rect">
            <a:avLst/>
          </a:prstGeom>
        </p:spPr>
        <p:txBody>
          <a:bodyPr/>
          <a:lstStyle/>
          <a:p>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04" name="Title Text"/>
          <p:cNvSpPr txBox="1"/>
          <p:nvPr>
            <p:ph type="title"/>
          </p:nvPr>
        </p:nvSpPr>
        <p:spPr>
          <a:xfrm>
            <a:off x="2389715" y="4800600"/>
            <a:ext cx="7315202" cy="566702"/>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5" y="612775"/>
            <a:ext cx="7315202"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5" y="5367337"/>
            <a:ext cx="7315202" cy="804902"/>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27" name="Title Text"/>
          <p:cNvSpPr txBox="1"/>
          <p:nvPr>
            <p:ph type="title"/>
          </p:nvPr>
        </p:nvSpPr>
        <p:spPr>
          <a:xfrm rot="5400000">
            <a:off x="7285049" y="1828791"/>
            <a:ext cx="5851502" cy="2743202"/>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8" y="-812860"/>
            <a:ext cx="5851502"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 name="Title Text"/>
          <p:cNvSpPr txBox="1"/>
          <p:nvPr>
            <p:ph type="title"/>
          </p:nvPr>
        </p:nvSpPr>
        <p:spPr>
          <a:xfrm>
            <a:off x="812800" y="274638"/>
            <a:ext cx="10668000" cy="4875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7" y="6397954"/>
            <a:ext cx="297874" cy="281899"/>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8"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900"/>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2"/>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2" cy="202056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00">
                <a:solidFill>
                  <a:srgbClr val="17365D"/>
                </a:solidFill>
                <a:latin typeface="Cambria"/>
                <a:ea typeface="Cambria"/>
                <a:cs typeface="Cambria"/>
                <a:sym typeface="Cambria"/>
              </a:defRPr>
            </a:pPr>
            <a:r>
              <a:t>Under the Supervision of,</a:t>
            </a:r>
          </a:p>
          <a:p>
            <a:pPr algn="ctr" defTabSz="841247">
              <a:spcBef>
                <a:spcPts val="300"/>
              </a:spcBef>
              <a:defRPr sz="1800">
                <a:solidFill>
                  <a:srgbClr val="17365D"/>
                </a:solidFill>
                <a:latin typeface="Cambria"/>
                <a:ea typeface="Cambria"/>
                <a:cs typeface="Cambria"/>
                <a:sym typeface="Cambria"/>
              </a:defRPr>
            </a:pPr>
          </a:p>
          <a:p>
            <a:pPr defTabSz="841247">
              <a:spcBef>
                <a:spcPts val="200"/>
              </a:spcBef>
              <a:defRPr sz="1500">
                <a:solidFill>
                  <a:srgbClr val="17365D"/>
                </a:solidFill>
                <a:latin typeface="Cambria"/>
                <a:ea typeface="Cambria"/>
                <a:cs typeface="Cambria"/>
                <a:sym typeface="Cambria"/>
              </a:defRPr>
            </a:pPr>
            <a:r>
              <a:t>Mr. Jai Kumar B</a:t>
            </a:r>
          </a:p>
          <a:p>
            <a:pPr defTabSz="841247">
              <a:spcBef>
                <a:spcPts val="200"/>
              </a:spcBef>
              <a:defRPr sz="1500">
                <a:solidFill>
                  <a:srgbClr val="17365D"/>
                </a:solidFill>
                <a:latin typeface="Cambria"/>
                <a:ea typeface="Cambria"/>
                <a:cs typeface="Cambria"/>
                <a:sym typeface="Cambria"/>
              </a:defRPr>
            </a:pPr>
            <a:r>
              <a:t>Assistant Professor</a:t>
            </a:r>
          </a:p>
          <a:p>
            <a:pPr defTabSz="841247">
              <a:spcBef>
                <a:spcPts val="200"/>
              </a:spcBef>
              <a:defRPr sz="1500">
                <a:solidFill>
                  <a:srgbClr val="17365D"/>
                </a:solidFill>
                <a:latin typeface="Cambria"/>
                <a:ea typeface="Cambria"/>
                <a:cs typeface="Cambria"/>
                <a:sym typeface="Cambria"/>
              </a:defRPr>
            </a:pPr>
            <a:r>
              <a:t>School of Computer Science and Engineering</a:t>
            </a:r>
          </a:p>
          <a:p>
            <a:pPr defTabSz="841247">
              <a:spcBef>
                <a:spcPts val="200"/>
              </a:spcBef>
              <a:defRPr sz="1500">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3"/>
          <a:ext cx="5822514" cy="3561486"/>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95724">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8" y="136439"/>
            <a:ext cx="5407526" cy="6628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Review-4</a:t>
            </a:r>
          </a:p>
        </p:txBody>
      </p:sp>
      <p:sp>
        <p:nvSpPr>
          <p:cNvPr id="143" name="Google Shape;91;p13"/>
          <p:cNvSpPr txBox="1"/>
          <p:nvPr/>
        </p:nvSpPr>
        <p:spPr>
          <a:xfrm>
            <a:off x="45723" y="4533900"/>
            <a:ext cx="12158469" cy="118063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j-lt"/>
                <a:ea typeface="+mj-ea"/>
                <a:cs typeface="+mj-cs"/>
                <a:sym typeface="Arial"/>
              </a:rPr>
              <a:t>CAI-Computer Science &amp; Engineering (Artificial Intelligence &amp; Machine Learning) </a:t>
            </a:r>
            <a:endParaRPr>
              <a:latin typeface="+mj-lt"/>
              <a:ea typeface="+mj-ea"/>
              <a:cs typeface="+mj-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j-lt"/>
                <a:ea typeface="+mj-ea"/>
                <a:cs typeface="+mj-cs"/>
                <a:sym typeface="Arial"/>
              </a:rPr>
              <a:t>Dr. Zafar Ali Khan N</a:t>
            </a:r>
            <a:endParaRPr>
              <a:latin typeface="+mj-lt"/>
              <a:ea typeface="+mj-ea"/>
              <a:cs typeface="+mj-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j-lt"/>
                <a:ea typeface="+mj-ea"/>
                <a:cs typeface="+mj-cs"/>
                <a:sym typeface="Arial"/>
              </a:rPr>
              <a:t>Ms. Suma N G</a:t>
            </a:r>
            <a:endParaRPr>
              <a:latin typeface="+mj-lt"/>
              <a:ea typeface="+mj-ea"/>
              <a:cs typeface="+mj-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12800" y="274638"/>
            <a:ext cx="10668000" cy="487502"/>
          </a:xfrm>
          <a:prstGeom prst="rect">
            <a:avLst/>
          </a:prstGeom>
        </p:spPr>
        <p:txBody>
          <a:bodyPr/>
          <a:lstStyle>
            <a:lvl1pPr defTabSz="850391">
              <a:defRPr sz="2600"/>
            </a:lvl1pPr>
          </a:lstStyle>
          <a:p>
            <a:pPr/>
            <a:r>
              <a:t>Analysis and Design</a:t>
            </a:r>
          </a:p>
        </p:txBody>
      </p:sp>
      <p:sp>
        <p:nvSpPr>
          <p:cNvPr id="146" name="Text Placeholder 2"/>
          <p:cNvSpPr txBox="1"/>
          <p:nvPr>
            <p:ph type="body" idx="1"/>
          </p:nvPr>
        </p:nvSpPr>
        <p:spPr>
          <a:xfrm>
            <a:off x="812800" y="1142999"/>
            <a:ext cx="10668000" cy="4953003"/>
          </a:xfrm>
          <a:prstGeom prst="rect">
            <a:avLst/>
          </a:prstGeom>
        </p:spPr>
        <p:txBody>
          <a:bodyPr/>
          <a:lstStyle/>
          <a:p>
            <a:pPr marL="0" indent="76200">
              <a:lnSpc>
                <a:spcPct val="90000"/>
              </a:lnSpc>
              <a:buSzTx/>
              <a:buNone/>
              <a:defRPr b="1" sz="2200"/>
            </a:pPr>
            <a:r>
              <a:t>Introduction</a:t>
            </a:r>
          </a:p>
          <a:p>
            <a:pPr marL="0" indent="76200">
              <a:lnSpc>
                <a:spcPct val="90000"/>
              </a:lnSpc>
              <a:buSzTx/>
              <a:buNone/>
              <a:defRPr sz="2200"/>
            </a:pPr>
            <a:r>
              <a:t>Analysis and Design stage brings in the structural and functional outline of the artificial intelligence-based dermatology diagnosis system. The step is aimed at getting familiar with the problem space, determining the requirements of the system and defining a modular architecture that would aid in analysing the images, processing metadata, explainability and interaction with users. The ultimate objective involves the development of a robust and scalable system that has a high accuracy in classifying skin lesions and does not suffer in usability, reliability, and clinical relevance. Its design incorporates many elements, among them, preprocessing pipelines, machine learning modules, fusion layers, explainability mechanisms, and a web-based interface. A methodical process will guarantee that every module has significant input to the general procedure of work, and the system will be efficient and give precise and operable forecast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itle 1"/>
          <p:cNvSpPr txBox="1"/>
          <p:nvPr>
            <p:ph type="title"/>
          </p:nvPr>
        </p:nvSpPr>
        <p:spPr>
          <a:xfrm>
            <a:off x="812800" y="274638"/>
            <a:ext cx="10668000" cy="487502"/>
          </a:xfrm>
          <a:prstGeom prst="rect">
            <a:avLst/>
          </a:prstGeom>
        </p:spPr>
        <p:txBody>
          <a:bodyPr/>
          <a:lstStyle>
            <a:lvl1pPr defTabSz="850391">
              <a:defRPr sz="2600"/>
            </a:lvl1pPr>
          </a:lstStyle>
          <a:p>
            <a:pPr/>
            <a:r>
              <a:t>System Analysis </a:t>
            </a:r>
          </a:p>
        </p:txBody>
      </p:sp>
      <p:sp>
        <p:nvSpPr>
          <p:cNvPr id="149" name="Text Placeholder 2"/>
          <p:cNvSpPr txBox="1"/>
          <p:nvPr>
            <p:ph type="body" idx="1"/>
          </p:nvPr>
        </p:nvSpPr>
        <p:spPr>
          <a:xfrm>
            <a:off x="812800" y="1142999"/>
            <a:ext cx="10668000" cy="4953003"/>
          </a:xfrm>
          <a:prstGeom prst="rect">
            <a:avLst/>
          </a:prstGeom>
        </p:spPr>
        <p:txBody>
          <a:bodyPr/>
          <a:lstStyle/>
          <a:p>
            <a:pPr/>
            <a:r>
              <a:t>System analysis assists to decompose the problem into manageable parts and it also indicates what the system should accomplish. The conventional method of dermatological diagnosis presupposes the professional evaluation of the dermatologist, yet the insufficiency of the dermatology supply poses a significant disparity in the diagnosis at an early stage. Therefore, the system must: Give AI-based preliminary skin lesion classification. Image + metadata Support Multimodal input (image + metadata). Provide timely and precise predictions. Provide visual explanations of offers. Be consistent in a variety of image conditions. Work within resource limitations that are deployable.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itle 1"/>
          <p:cNvSpPr txBox="1"/>
          <p:nvPr>
            <p:ph type="title"/>
          </p:nvPr>
        </p:nvSpPr>
        <p:spPr>
          <a:xfrm>
            <a:off x="812800" y="274638"/>
            <a:ext cx="10668000" cy="487502"/>
          </a:xfrm>
          <a:prstGeom prst="rect">
            <a:avLst/>
          </a:prstGeom>
        </p:spPr>
        <p:txBody>
          <a:bodyPr/>
          <a:lstStyle>
            <a:lvl1pPr defTabSz="850391">
              <a:defRPr sz="2600"/>
            </a:lvl1pPr>
          </a:lstStyle>
          <a:p>
            <a:pPr/>
            <a:r>
              <a:t>Functional Requirements </a:t>
            </a:r>
          </a:p>
        </p:txBody>
      </p:sp>
      <p:sp>
        <p:nvSpPr>
          <p:cNvPr id="152" name="Text Placeholder 2"/>
          <p:cNvSpPr txBox="1"/>
          <p:nvPr>
            <p:ph type="body" idx="1"/>
          </p:nvPr>
        </p:nvSpPr>
        <p:spPr>
          <a:xfrm>
            <a:off x="812800" y="1142999"/>
            <a:ext cx="10668000" cy="4953003"/>
          </a:xfrm>
          <a:prstGeom prst="rect">
            <a:avLst/>
          </a:prstGeom>
        </p:spPr>
        <p:txBody>
          <a:bodyPr/>
          <a:lstStyle/>
          <a:p>
            <a:pPr/>
            <a:r>
              <a:t>Functional requirements are statements of how the system is supposed to behave. Image Input Handling The user should be able to post dermoscopic images of supported formats (JPEG/PNG). Image quality verification should come before processing in the system. Metadata Collection Tolerate patient information such as age, sex and location of lesion. Model metadata and encode so that they can be processed by models. Preprocessing and Augmentation Preprocessing and Augmentation Preprocessing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4" name="Picture 4" descr="Picture 4"/>
          <p:cNvPicPr>
            <a:picLocks noChangeAspect="1"/>
          </p:cNvPicPr>
          <p:nvPr/>
        </p:nvPicPr>
        <p:blipFill>
          <a:blip r:embed="rId2">
            <a:extLst/>
          </a:blip>
          <a:stretch>
            <a:fillRect/>
          </a:stretch>
        </p:blipFill>
        <p:spPr>
          <a:xfrm>
            <a:off x="4082810" y="1441315"/>
            <a:ext cx="3893307" cy="393547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