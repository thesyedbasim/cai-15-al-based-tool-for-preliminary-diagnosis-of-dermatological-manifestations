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5" name="Title Text"/>
          <p:cNvSpPr txBox="1"/>
          <p:nvPr>
            <p:ph type="title"/>
          </p:nvPr>
        </p:nvSpPr>
        <p:spPr>
          <a:xfrm>
            <a:off x="1050877" y="1322386"/>
            <a:ext cx="10363201" cy="1470002"/>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2"/>
          </a:xfrm>
          <a:prstGeom prst="rect">
            <a:avLst/>
          </a:prstGeom>
        </p:spPr>
        <p:txBody>
          <a:bodyPr/>
          <a:lstStyle>
            <a:lvl1pPr marL="304800" indent="-228600" algn="ctr">
              <a:buClrTx/>
              <a:buSzTx/>
              <a:buFontTx/>
              <a:buNone/>
              <a:defRPr b="1" sz="2000">
                <a:solidFill>
                  <a:srgbClr val="17365D"/>
                </a:solidFill>
              </a:defRPr>
            </a:lvl1pPr>
            <a:lvl2pPr marL="304800" indent="76200" algn="ctr">
              <a:buClrTx/>
              <a:buSzTx/>
              <a:buFontTx/>
              <a:buNone/>
              <a:defRPr b="1" sz="2000">
                <a:solidFill>
                  <a:srgbClr val="17365D"/>
                </a:solidFill>
              </a:defRPr>
            </a:lvl2pPr>
            <a:lvl3pPr marL="304800" indent="76200" algn="ctr">
              <a:buClrTx/>
              <a:buSzTx/>
              <a:buFontTx/>
              <a:buNone/>
              <a:defRPr b="1" sz="2000">
                <a:solidFill>
                  <a:srgbClr val="17365D"/>
                </a:solidFill>
              </a:defRPr>
            </a:lvl3pPr>
            <a:lvl4pPr marL="304800" indent="76200" algn="ctr">
              <a:buClrTx/>
              <a:buSzTx/>
              <a:buFontTx/>
              <a:buNone/>
              <a:defRPr b="1" sz="2000">
                <a:solidFill>
                  <a:srgbClr val="17365D"/>
                </a:solidFill>
              </a:defRPr>
            </a:lvl4pPr>
            <a:lvl5pPr marL="304800" indent="762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35" name="Title Text"/>
          <p:cNvSpPr txBox="1"/>
          <p:nvPr>
            <p:ph type="title"/>
          </p:nvPr>
        </p:nvSpPr>
        <p:spPr>
          <a:xfrm>
            <a:off x="963084" y="4406903"/>
            <a:ext cx="10363201" cy="1362002"/>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2"/>
          </a:xfrm>
          <a:prstGeom prst="rect">
            <a:avLst/>
          </a:prstGeom>
        </p:spPr>
        <p:txBody>
          <a:bodyPr anchor="b"/>
          <a:lstStyle>
            <a:lvl1pPr marL="0" indent="228600">
              <a:buClrTx/>
              <a:buSzTx/>
              <a:buFontTx/>
              <a:buNone/>
              <a:defRPr sz="2000">
                <a:solidFill>
                  <a:srgbClr val="888888"/>
                </a:solidFill>
              </a:defRPr>
            </a:lvl1pPr>
            <a:lvl2pPr marL="0" indent="228600">
              <a:buClrTx/>
              <a:buSzTx/>
              <a:buFontTx/>
              <a:buNone/>
              <a:defRPr sz="2000">
                <a:solidFill>
                  <a:srgbClr val="888888"/>
                </a:solidFill>
              </a:defRPr>
            </a:lvl2pPr>
            <a:lvl3pPr marL="0" indent="228600">
              <a:buClrTx/>
              <a:buSzTx/>
              <a:buFontTx/>
              <a:buNone/>
              <a:defRPr sz="2000">
                <a:solidFill>
                  <a:srgbClr val="888888"/>
                </a:solidFill>
              </a:defRPr>
            </a:lvl3pPr>
            <a:lvl4pPr marL="0" indent="228600">
              <a:buClrTx/>
              <a:buSzTx/>
              <a:buFontTx/>
              <a:buNone/>
              <a:defRPr sz="2000">
                <a:solidFill>
                  <a:srgbClr val="888888"/>
                </a:solidFill>
              </a:defRPr>
            </a:lvl4pPr>
            <a:lvl5pPr marL="0" indent="2286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2"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8" y="1600202"/>
            <a:ext cx="5384703" cy="4526103"/>
          </a:xfrm>
          <a:prstGeom prst="rect">
            <a:avLst/>
          </a:prstGeom>
        </p:spPr>
        <p:txBody>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2"/>
          </a:xfrm>
          <a:prstGeom prst="rect">
            <a:avLst/>
          </a:prstGeom>
        </p:spPr>
        <p:txBody>
          <a:bodyPr anchor="b"/>
          <a:lstStyle>
            <a:lvl1pPr marL="0" indent="228600">
              <a:buClrTx/>
              <a:buSzTx/>
              <a:buFontTx/>
              <a:buNone/>
              <a:defRPr b="1"/>
            </a:lvl1pPr>
            <a:lvl2pPr marL="0" indent="228600">
              <a:buClrTx/>
              <a:buSzTx/>
              <a:buFontTx/>
              <a:buNone/>
              <a:defRPr b="1"/>
            </a:lvl2pPr>
            <a:lvl3pPr marL="0" indent="228600">
              <a:buClrTx/>
              <a:buSzTx/>
              <a:buFontTx/>
              <a:buNone/>
              <a:defRPr b="1"/>
            </a:lvl3pPr>
            <a:lvl4pPr marL="0" indent="228600">
              <a:buClrTx/>
              <a:buSzTx/>
              <a:buFontTx/>
              <a:buNone/>
              <a:defRPr b="1"/>
            </a:lvl4pPr>
            <a:lvl5pPr marL="0" indent="2286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2" cy="639902"/>
          </a:xfrm>
          <a:prstGeom prst="rect">
            <a:avLst/>
          </a:prstGeom>
        </p:spPr>
        <p:txBody>
          <a:bodyPr anchor="b"/>
          <a:lstStyle/>
          <a:p>
            <a:pPr/>
          </a:p>
        </p:txBody>
      </p:sp>
      <p:sp>
        <p:nvSpPr>
          <p:cNvPr id="62" name="Google Shape;43;p6"/>
          <p:cNvSpPr txBox="1"/>
          <p:nvPr>
            <p:ph type="body" sz="half" idx="23"/>
          </p:nvPr>
        </p:nvSpPr>
        <p:spPr>
          <a:xfrm>
            <a:off x="6193368" y="2174875"/>
            <a:ext cx="5388902"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72" name="Title Text"/>
          <p:cNvSpPr txBox="1"/>
          <p:nvPr>
            <p:ph type="title"/>
          </p:nvPr>
        </p:nvSpPr>
        <p:spPr>
          <a:xfrm>
            <a:off x="3860800" y="274638"/>
            <a:ext cx="7721700" cy="487502"/>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7" y="139873"/>
            <a:ext cx="9686796"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92" name="Title Text"/>
          <p:cNvSpPr txBox="1"/>
          <p:nvPr>
            <p:ph type="title"/>
          </p:nvPr>
        </p:nvSpPr>
        <p:spPr>
          <a:xfrm>
            <a:off x="609601" y="273050"/>
            <a:ext cx="4011003"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2"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0" y="1435102"/>
            <a:ext cx="4011004" cy="4691103"/>
          </a:xfrm>
          <a:prstGeom prst="rect">
            <a:avLst/>
          </a:prstGeom>
        </p:spPr>
        <p:txBody>
          <a:bodyPr/>
          <a:lstStyle/>
          <a:p>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04" name="Title Text"/>
          <p:cNvSpPr txBox="1"/>
          <p:nvPr>
            <p:ph type="title"/>
          </p:nvPr>
        </p:nvSpPr>
        <p:spPr>
          <a:xfrm>
            <a:off x="2389715" y="4800600"/>
            <a:ext cx="7315202" cy="566702"/>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5" y="612775"/>
            <a:ext cx="7315202"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5" y="5367337"/>
            <a:ext cx="7315202" cy="804902"/>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27" name="Title Text"/>
          <p:cNvSpPr txBox="1"/>
          <p:nvPr>
            <p:ph type="title"/>
          </p:nvPr>
        </p:nvSpPr>
        <p:spPr>
          <a:xfrm rot="5400000">
            <a:off x="7285049" y="1828791"/>
            <a:ext cx="5851502" cy="2743202"/>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8" y="-812860"/>
            <a:ext cx="5851502"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 name="Title Text"/>
          <p:cNvSpPr txBox="1"/>
          <p:nvPr>
            <p:ph type="title"/>
          </p:nvPr>
        </p:nvSpPr>
        <p:spPr>
          <a:xfrm>
            <a:off x="812800" y="274638"/>
            <a:ext cx="10668000" cy="4875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7" y="6397954"/>
            <a:ext cx="297874" cy="281899"/>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8"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900"/>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2"/>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2" cy="202056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00">
                <a:solidFill>
                  <a:srgbClr val="17365D"/>
                </a:solidFill>
                <a:latin typeface="Cambria"/>
                <a:ea typeface="Cambria"/>
                <a:cs typeface="Cambria"/>
                <a:sym typeface="Cambria"/>
              </a:defRPr>
            </a:pPr>
            <a:r>
              <a:t>Under the Supervision of,</a:t>
            </a:r>
          </a:p>
          <a:p>
            <a:pPr algn="ctr" defTabSz="841247">
              <a:spcBef>
                <a:spcPts val="300"/>
              </a:spcBef>
              <a:defRPr sz="1800">
                <a:solidFill>
                  <a:srgbClr val="17365D"/>
                </a:solidFill>
                <a:latin typeface="Cambria"/>
                <a:ea typeface="Cambria"/>
                <a:cs typeface="Cambria"/>
                <a:sym typeface="Cambria"/>
              </a:defRPr>
            </a:pPr>
          </a:p>
          <a:p>
            <a:pPr defTabSz="841247">
              <a:spcBef>
                <a:spcPts val="200"/>
              </a:spcBef>
              <a:defRPr sz="1500">
                <a:solidFill>
                  <a:srgbClr val="17365D"/>
                </a:solidFill>
                <a:latin typeface="Cambria"/>
                <a:ea typeface="Cambria"/>
                <a:cs typeface="Cambria"/>
                <a:sym typeface="Cambria"/>
              </a:defRPr>
            </a:pPr>
            <a:r>
              <a:t>Mr. Jai Kumar B</a:t>
            </a:r>
          </a:p>
          <a:p>
            <a:pPr defTabSz="841247">
              <a:spcBef>
                <a:spcPts val="200"/>
              </a:spcBef>
              <a:defRPr sz="1500">
                <a:solidFill>
                  <a:srgbClr val="17365D"/>
                </a:solidFill>
                <a:latin typeface="Cambria"/>
                <a:ea typeface="Cambria"/>
                <a:cs typeface="Cambria"/>
                <a:sym typeface="Cambria"/>
              </a:defRPr>
            </a:pPr>
            <a:r>
              <a:t>Assistant Professor</a:t>
            </a:r>
          </a:p>
          <a:p>
            <a:pPr defTabSz="841247">
              <a:spcBef>
                <a:spcPts val="200"/>
              </a:spcBef>
              <a:defRPr sz="1500">
                <a:solidFill>
                  <a:srgbClr val="17365D"/>
                </a:solidFill>
                <a:latin typeface="Cambria"/>
                <a:ea typeface="Cambria"/>
                <a:cs typeface="Cambria"/>
                <a:sym typeface="Cambria"/>
              </a:defRPr>
            </a:pPr>
            <a:r>
              <a:t>School of Computer Science and Engineering</a:t>
            </a:r>
          </a:p>
          <a:p>
            <a:pPr defTabSz="841247">
              <a:spcBef>
                <a:spcPts val="200"/>
              </a:spcBef>
              <a:defRPr sz="1500">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3"/>
          <a:ext cx="5822514" cy="3561486"/>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8" y="136439"/>
            <a:ext cx="5407526" cy="6628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Review-5</a:t>
            </a:r>
          </a:p>
        </p:txBody>
      </p:sp>
      <p:sp>
        <p:nvSpPr>
          <p:cNvPr id="143" name="Google Shape;91;p13"/>
          <p:cNvSpPr txBox="1"/>
          <p:nvPr/>
        </p:nvSpPr>
        <p:spPr>
          <a:xfrm>
            <a:off x="45723" y="4533900"/>
            <a:ext cx="12158469" cy="118063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j-lt"/>
                <a:ea typeface="+mj-ea"/>
                <a:cs typeface="+mj-cs"/>
                <a:sym typeface="Arial"/>
              </a:rPr>
              <a:t>CAI-Computer Science &amp; Engineering (Artificial Intelligence &amp; Machine Learning) </a:t>
            </a:r>
          </a:p>
          <a:p>
            <a:pPr>
              <a:defRPr sz="1800">
                <a:solidFill>
                  <a:schemeClr val="accent1"/>
                </a:solidFill>
                <a:latin typeface="Cambria"/>
                <a:ea typeface="Cambria"/>
                <a:cs typeface="Cambria"/>
                <a:sym typeface="Cambria"/>
              </a:defRPr>
            </a:pPr>
            <a:r>
              <a:t>Name of the HoD: </a:t>
            </a:r>
            <a:r>
              <a:rPr>
                <a:solidFill>
                  <a:srgbClr val="000000"/>
                </a:solidFill>
                <a:latin typeface="+mj-lt"/>
                <a:ea typeface="+mj-ea"/>
                <a:cs typeface="+mj-cs"/>
                <a:sym typeface="Arial"/>
              </a:rPr>
              <a:t>Dr. Zafar Ali Khan N</a:t>
            </a: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j-lt"/>
                <a:ea typeface="+mj-ea"/>
                <a:cs typeface="+mj-cs"/>
                <a:sym typeface="Arial"/>
              </a:rPr>
              <a:t>Ms. Suma N G</a:t>
            </a: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12800" y="274638"/>
            <a:ext cx="10668000" cy="487502"/>
          </a:xfrm>
          <a:prstGeom prst="rect">
            <a:avLst/>
          </a:prstGeom>
        </p:spPr>
        <p:txBody>
          <a:bodyPr/>
          <a:lstStyle>
            <a:lvl1pPr defTabSz="850391">
              <a:defRPr sz="2600"/>
            </a:lvl1pPr>
          </a:lstStyle>
          <a:p>
            <a:pPr/>
            <a:r>
              <a:t>Implementation</a:t>
            </a:r>
          </a:p>
        </p:txBody>
      </p:sp>
      <p:sp>
        <p:nvSpPr>
          <p:cNvPr id="146" name="Text Placeholder 2"/>
          <p:cNvSpPr txBox="1"/>
          <p:nvPr>
            <p:ph type="body" idx="1"/>
          </p:nvPr>
        </p:nvSpPr>
        <p:spPr>
          <a:xfrm>
            <a:off x="812800" y="1142999"/>
            <a:ext cx="10668000" cy="4953003"/>
          </a:xfrm>
          <a:prstGeom prst="rect">
            <a:avLst/>
          </a:prstGeom>
        </p:spPr>
        <p:txBody>
          <a:bodyPr/>
          <a:lstStyle/>
          <a:p>
            <a:pPr marL="0" indent="76200">
              <a:lnSpc>
                <a:spcPct val="80000"/>
              </a:lnSpc>
              <a:buSzTx/>
              <a:buNone/>
              <a:defRPr b="1" sz="2200"/>
            </a:pPr>
            <a:r>
              <a:t>System Overview</a:t>
            </a:r>
          </a:p>
          <a:p>
            <a:pPr marL="0" indent="76200">
              <a:lnSpc>
                <a:spcPct val="80000"/>
              </a:lnSpc>
              <a:buSzTx/>
              <a:buNone/>
              <a:defRPr sz="2200"/>
            </a:pPr>
            <a:r>
              <a:t>The implementation phase was concerned with turning the suggested architecture into a fullfledged, end-to-end AI system that would be able to process dermoscopic images, incorporate clinical metadata, make predictions, and display diagnostic heatmaps. The system is multimodal with images and metadata branches running separately and their features being integrated at a later stage. The implementation was done in a modular manner whereby every subsystem, preprocessing, model training, evaluation, inference pipeline and UI deployment, can be updated without toying up the whole system. The entire pipeline consists of: Preprocessing and augmentation of images. Encoding and normalization of metadata. Feature extraction based on EfficientNetB4. Combined representation Fusion network. Head of classification of seven skin lesions. Grad-CAM explainability module. Front-end Web-based and Flask-based back-end. This modularity guarantees maintainability, future scalability and future upgradeability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itle 1"/>
          <p:cNvSpPr txBox="1"/>
          <p:nvPr>
            <p:ph type="title"/>
          </p:nvPr>
        </p:nvSpPr>
        <p:spPr>
          <a:xfrm>
            <a:off x="812800" y="274638"/>
            <a:ext cx="10668000" cy="487502"/>
          </a:xfrm>
          <a:prstGeom prst="rect">
            <a:avLst/>
          </a:prstGeom>
        </p:spPr>
        <p:txBody>
          <a:bodyPr/>
          <a:lstStyle>
            <a:lvl1pPr defTabSz="850391">
              <a:defRPr sz="2600"/>
            </a:lvl1pPr>
          </a:lstStyle>
          <a:p>
            <a:pPr/>
            <a:r>
              <a:t>Evaluation and Results</a:t>
            </a:r>
          </a:p>
        </p:txBody>
      </p:sp>
      <p:sp>
        <p:nvSpPr>
          <p:cNvPr id="149" name="Text Placeholder 2"/>
          <p:cNvSpPr txBox="1"/>
          <p:nvPr>
            <p:ph type="body" idx="1"/>
          </p:nvPr>
        </p:nvSpPr>
        <p:spPr>
          <a:xfrm>
            <a:off x="812800" y="1142999"/>
            <a:ext cx="10668000" cy="4953003"/>
          </a:xfrm>
          <a:prstGeom prst="rect">
            <a:avLst/>
          </a:prstGeom>
        </p:spPr>
        <p:txBody>
          <a:bodyPr/>
          <a:lstStyle/>
          <a:p>
            <a:pPr marL="0" indent="76200">
              <a:lnSpc>
                <a:spcPct val="90000"/>
              </a:lnSpc>
              <a:buSzTx/>
              <a:buNone/>
            </a:pPr>
            <a:r>
              <a:t>In order to guarantee that the AI-based dermatology diagnosis system is effective in a variety of conditions, a set of test points was introduced in a structured form. These test points are aimed at testing the technical accuracy of the model and the possibility to apply it in diagnostic real-life conditions. The main areas that were chosen as evaluation checkpoints are: Image Quality Sensitivity: To test the system concerning its response to varying quality of input, the system was tested using images with different resolutions, varying lighting conditions, and varying levels of noise.</a:t>
            </a:r>
          </a:p>
          <a:p>
            <a:pPr marL="0" indent="76200">
              <a:lnSpc>
                <a:spcPct val="90000"/>
              </a:lnSpc>
              <a:buSzTx/>
              <a:buNone/>
            </a:pPr>
            <a:r>
              <a:t>Performance in Detection by Class: They determined test points to establish the discrimination of the model to the seven types of lesions of HAM10000 such as melanoma, benign keratosis, and basal cell carcinoma, which tend to be visually alike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ext Placeholder 2"/>
          <p:cNvSpPr txBox="1"/>
          <p:nvPr>
            <p:ph type="body" idx="1"/>
          </p:nvPr>
        </p:nvSpPr>
        <p:spPr>
          <a:xfrm>
            <a:off x="812800" y="1142999"/>
            <a:ext cx="10668000" cy="4953003"/>
          </a:xfrm>
          <a:prstGeom prst="rect">
            <a:avLst/>
          </a:prstGeom>
        </p:spPr>
        <p:txBody>
          <a:bodyPr/>
          <a:lstStyle>
            <a:lvl1pPr>
              <a:lnSpc>
                <a:spcPct val="90000"/>
              </a:lnSpc>
            </a:lvl1pPr>
          </a:lstStyle>
          <a:p>
            <a:pPr/>
            <a:r>
              <a:t>Metadata Contribution: The success of age, sex and site of anatomy integration was tested to make certain that metadata integration enhances predictive accuracy rather than bias. Model Robustness and Stability: Validation curves and training curves were observed keenly to identify unstable behavior of learning or overfitting. A qualitative test point that was also utilized to demonstrate that the model concentrates on clinically significant areas of lesion is Grad-CAM heatmaps. User Interaction and the Clarity of the Output: The interface of the tool was evaluated in terms of the clear prediction labels, confidence scores, and heatmap overlays to make sure that the nonexpert users will be able to read the results correctly.All these test points assisted in justifying both the accuracy of the algorithm and the feasibility and interpretability of the system.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itle 1"/>
          <p:cNvSpPr txBox="1"/>
          <p:nvPr>
            <p:ph type="title"/>
          </p:nvPr>
        </p:nvSpPr>
        <p:spPr>
          <a:xfrm>
            <a:off x="812800" y="274638"/>
            <a:ext cx="10668000" cy="487502"/>
          </a:xfrm>
          <a:prstGeom prst="rect">
            <a:avLst/>
          </a:prstGeom>
        </p:spPr>
        <p:txBody>
          <a:bodyPr/>
          <a:lstStyle>
            <a:lvl1pPr defTabSz="850391">
              <a:defRPr sz="2600"/>
            </a:lvl1pPr>
          </a:lstStyle>
          <a:p>
            <a:pPr/>
            <a:r>
              <a:t>Test Result</a:t>
            </a:r>
          </a:p>
        </p:txBody>
      </p:sp>
      <p:sp>
        <p:nvSpPr>
          <p:cNvPr id="154" name="Text Placeholder 2"/>
          <p:cNvSpPr txBox="1"/>
          <p:nvPr>
            <p:ph type="body" idx="1"/>
          </p:nvPr>
        </p:nvSpPr>
        <p:spPr>
          <a:xfrm>
            <a:off x="812800" y="1142999"/>
            <a:ext cx="10668000" cy="4953003"/>
          </a:xfrm>
          <a:prstGeom prst="rect">
            <a:avLst/>
          </a:prstGeom>
        </p:spPr>
        <p:txBody>
          <a:bodyPr/>
          <a:lstStyle/>
          <a:p>
            <a:pPr/>
            <a:r>
              <a:t>The system had good performance in all the measurement metrics. The major findings include: High Overall Accuracy: The model had a accuracy of 92.5 which means that it is consistent in classifying different types of lesions. Balanced Precision and recall: Precision (91.2) and recall (90.8) are used to show the model capability to recognize both malignant and benign lesions without over-predicting any of the categories. F1-Score and ROC-AUC: The F1-score of 91.0% indicates that excellent results are achieved in situations when the false positives and false negatives should be reduced. The scores of the ROC-AUC at the classes, as can be seen in the evaluation plots, reveal that there is always strong discrimination ability of all the seven lesion categories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itle 1"/>
          <p:cNvSpPr txBox="1"/>
          <p:nvPr>
            <p:ph type="title"/>
          </p:nvPr>
        </p:nvSpPr>
        <p:spPr>
          <a:xfrm>
            <a:off x="812800" y="274638"/>
            <a:ext cx="10668000" cy="487502"/>
          </a:xfrm>
          <a:prstGeom prst="rect">
            <a:avLst/>
          </a:prstGeom>
        </p:spPr>
        <p:txBody>
          <a:bodyPr/>
          <a:lstStyle>
            <a:lvl1pPr defTabSz="850391">
              <a:defRPr sz="2600"/>
            </a:lvl1pPr>
          </a:lstStyle>
          <a:p>
            <a:pPr/>
            <a:r>
              <a:t>References</a:t>
            </a:r>
          </a:p>
        </p:txBody>
      </p:sp>
      <p:sp>
        <p:nvSpPr>
          <p:cNvPr id="157" name="Text Placeholder 2"/>
          <p:cNvSpPr txBox="1"/>
          <p:nvPr>
            <p:ph type="body" idx="1"/>
          </p:nvPr>
        </p:nvSpPr>
        <p:spPr>
          <a:xfrm>
            <a:off x="812800" y="1142999"/>
            <a:ext cx="10668000" cy="4953003"/>
          </a:xfrm>
          <a:prstGeom prst="rect">
            <a:avLst/>
          </a:prstGeom>
        </p:spPr>
        <p:txBody>
          <a:bodyPr/>
          <a:lstStyle>
            <a:lvl1pPr>
              <a:lnSpc>
                <a:spcPct val="80000"/>
              </a:lnSpc>
              <a:buSzPts val="1600"/>
              <a:defRPr sz="1600"/>
            </a:lvl1pPr>
          </a:lstStyle>
          <a:p>
            <a:pPr/>
            <a:r>
              <a:t>1. Sandhiya Devi M, Shanjanasree P, Sona S, Ms. Swetha, “AI Based Tool for Preliminary Diagnosis of Dermatological Manifestations,” May 2025. 2. Ling-Fang Li, Xu Wang, Wei-Jian Hu, Neal N. Xiong, Yong-Xing Du, Bao-Shan Li, “Deep Learning in Skin Disease Image Recognition,” 2020-11-01. 3. Nourah Janbi, Rashid Mehmood, Iyad Katib, Aiiad Albeshri, Juan M. Corchado, Tan Yigitcanlar, “Imtidad: A Reference Architecture and a Case Study on Developing Distributed AI Services for Skin Disease Diagnosis over Cloud, Fog and Edge,” 2022. 4. Zhouxiao Li, Konstantin Christoph Koban, Thilo Ludwig Schenck, Riccardo Enzo Giunta, Qingfeng Li, Yangbai Sun, “Artificial Intelligence in Dermatology Image …” (incomplete title). 5. Prof. S.R. Kale, Mr. Mahesh Dandekar, Mr. Mahesh Bawane, Mr. Parth Dangre, Mr. Parth Sabale, “AI Based Tool for Preliminary Diagnosis of Dermatological Manifestations,” 2025-04-01. 6. Yali Nie, Paolo Sommella, Marco Carratù, Matteo Ferro, Mattias O’Nils, Jan Lundgren, “Recent Advances in Diagnosis of Skin Lesions …” (incomplete title). 7. Prof. S.R. Kale, Parth V. Sable, Parth S. Dangre, Mahesh R. Dandeker, Mahesh Bawane, “A Review on AI-Based Tool for Preliminary Diagnosis of Dermatological Manifestations,” Jan–Feb 2025. 8. Rashmi N. Kuppast, Preetham R., K. Chandan, Chethan K., “AI Tool for Preliminary Diagnosis of Dermatology Manifestation,” IJARIIE Journal, Vol-10, Issue-3, 2024. 9. Dr. Chandrasekar Vadivelraju, Keren Elisheba S, Vikhyath Moodbidri, Bharath Kumar, Pavaman Suraj, Merugu Harish Reddy, “Dermascan AI: Deep Learning System for Preliminary Diagnosis of Dermatological Manifestations,” Volume 13, Issue 5, May 2025. 10. Zhouxiao Li, Konstantin Christoph Koban, Thilo Ludwig Schenck, Riccardo Enzo Giunta, Qingfeng Li, Yangbai Sun, “Artificial Intelligence in Dermato …” (duplicate/incomplete title).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Text Placeholder 2"/>
          <p:cNvSpPr txBox="1"/>
          <p:nvPr>
            <p:ph type="body" idx="1"/>
          </p:nvPr>
        </p:nvSpPr>
        <p:spPr>
          <a:xfrm>
            <a:off x="812800" y="1142999"/>
            <a:ext cx="10668000" cy="4953003"/>
          </a:xfrm>
          <a:prstGeom prst="rect">
            <a:avLst/>
          </a:prstGeom>
        </p:spPr>
        <p:txBody>
          <a:bodyPr/>
          <a:lstStyle/>
          <a:p>
            <a:pPr/>
            <a:r>
              <a:t>11. Prof. S.R. Kale, Parth V. Sable, Parth S. Dangre, Mahesh R. Dandeker, Mahesh Bawane, “A Review on AI-Based Tool for Preliminary Diagnosis of Dermatological Manifestations,” 2025. (duplicate entry) 12. Yali Nie, Paolo Sommella, Marco Carratù, Matteo Ferro, Mattias O’Nils, Jan Lundgren, “Recent Advances in Diagnosis of Skin Lesions Using Dermoscopic Images Based on Deep Learning,” 2022-08- 17. 13. Esteva A., et al., “Dermatologist-level Classification of Skin Cancer with Deep Neural Networks,” Nature, 2017. 14. Codella N., et al., “Skin Lesion Analysis Toward Melanoma Detection,” ISBI, 2018. 15. Brinker T.J., et al., “Deep Learning Outperformed 136 of 157 Dermatologists in a Head-to-Head Dermoscopic Melanoma Image Classification Task,” Eur J Cancer, 2019.</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xt Placeholder 2"/>
          <p:cNvSpPr txBox="1"/>
          <p:nvPr>
            <p:ph type="body" idx="1"/>
          </p:nvPr>
        </p:nvSpPr>
        <p:spPr>
          <a:xfrm>
            <a:off x="812800" y="1142999"/>
            <a:ext cx="10668000" cy="4953003"/>
          </a:xfrm>
          <a:prstGeom prst="rect">
            <a:avLst/>
          </a:prstGeom>
        </p:spPr>
        <p:txBody>
          <a:bodyPr/>
          <a:lstStyle>
            <a:lvl1pPr>
              <a:buSzPts val="2200"/>
              <a:defRPr sz="2200"/>
            </a:lvl1pPr>
          </a:lstStyle>
          <a:p>
            <a:pPr/>
            <a:r>
              <a:t>16. Bucaioni, A., Weyssow, M., He, J., Lyu, Y., Lo, D., “Artificial Intelligence for Software Architecture: Literature Review and the Road Ahead,” arXiv:2504.04334, 2025. 17. Devanshu Agarwal, Dr. Vishal Shrivastava, Dr. Akhil Pandey, Dr. Karuna Sharma, Dr. Ashok Kumar Kajla, “Building Scalable Web Applications with Python,” IJRPR Volume 6, Issue 5, May 2025, pp. 6591–6597. 18. Es, S., James, J., Anke, L.E., Schockaert, S., “RAGAS: Automated Evaluation of Retrieval Augmented Generation,” EACL System Demonstrations, March 2024. 19. Niu, C., Wu, Y., Zhu, J., Xu, S., Shum, K., Zhong, R., Song, J., Zhang, T., “Ragtruth: A Hallucination Corpus for Developing Trustworthy Retrieval-Augmented Language Models,” ACL 2024. 20. Ahmad, S., Nezami, Z., Hafeez, M., Zaidi, S.A.R., “Benchmarking Vector, Graph and Hybrid RAG Pipelines for Open RAN,” arXiv:2507.03608, 2025.</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Text Placeholder 2"/>
          <p:cNvSpPr txBox="1"/>
          <p:nvPr>
            <p:ph type="body" idx="1"/>
          </p:nvPr>
        </p:nvSpPr>
        <p:spPr>
          <a:xfrm>
            <a:off x="812800" y="1142999"/>
            <a:ext cx="10668000" cy="4953003"/>
          </a:xfrm>
          <a:prstGeom prst="rect">
            <a:avLst/>
          </a:prstGeom>
        </p:spPr>
        <p:txBody>
          <a:bodyPr/>
          <a:lstStyle>
            <a:lvl1pPr>
              <a:buSzPts val="2200"/>
              <a:defRPr sz="2200"/>
            </a:lvl1pPr>
          </a:lstStyle>
          <a:p>
            <a:pPr/>
            <a:r>
              <a:t>20. Ahmad, S., Nezami, Z., Hafeez, M., Zaidi, S.A.R., “Benchmarking Vector, Graph and Hybrid RAG Pipelines for Open RAN,” arXiv:2507.03608, 2025. 21. Krishna, S., Krishna, K., Mohananey, A., Schwarcz, S., Stambler, A., Upadhyay, S., Faruqui, M., “Fact, Fetch, and Reason: A Unified Evaluation of Retrieval-Augmented Generation,” NAACL-HLT 2025. 22. Barnett, S., Kurniawan, S., Thudumu, S., Brannelly, Z., Abdelrazek, M., “Seven Failure Points When Engineering a Retrieval-Augmented Generation System,” AI Engineering Conference, April 2024. 23. Young A.T., et al., “Stress Testing Reveals Gaps in Clinic Readiness of Image-Based Diagnostic AI Models,” NPJ Digital Medicine, 2021. 24. Daneshjou R., et al., “Lack of Transparency and Potential Bias in Artificial Intelligence Data Sets and Algorithms,” JAMA Dermatology, 2021. 25. Adamson A.S., et al., “Machine Learning and Health Care Disparities in Dermatology,” JAMA Dermatol, 2018.</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5" name="Picture 4" descr="Picture 4"/>
          <p:cNvPicPr>
            <a:picLocks noChangeAspect="1"/>
          </p:cNvPicPr>
          <p:nvPr/>
        </p:nvPicPr>
        <p:blipFill>
          <a:blip r:embed="rId2">
            <a:extLst/>
          </a:blip>
          <a:stretch>
            <a:fillRect/>
          </a:stretch>
        </p:blipFill>
        <p:spPr>
          <a:xfrm>
            <a:off x="4082810" y="1441315"/>
            <a:ext cx="3893307" cy="393547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