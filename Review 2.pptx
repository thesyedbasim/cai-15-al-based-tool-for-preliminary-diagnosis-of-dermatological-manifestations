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5" name="Title Text"/>
          <p:cNvSpPr txBox="1"/>
          <p:nvPr>
            <p:ph type="title"/>
          </p:nvPr>
        </p:nvSpPr>
        <p:spPr>
          <a:xfrm>
            <a:off x="1050877" y="1322386"/>
            <a:ext cx="10363201" cy="1470002"/>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2"/>
          </a:xfrm>
          <a:prstGeom prst="rect">
            <a:avLst/>
          </a:prstGeom>
        </p:spPr>
        <p:txBody>
          <a:bodyPr/>
          <a:lstStyle>
            <a:lvl1pPr marL="304800" indent="-228600" algn="ctr">
              <a:buClrTx/>
              <a:buSzTx/>
              <a:buFontTx/>
              <a:buNone/>
              <a:defRPr b="1" sz="2000">
                <a:solidFill>
                  <a:srgbClr val="17365D"/>
                </a:solidFill>
              </a:defRPr>
            </a:lvl1pPr>
            <a:lvl2pPr marL="304800" indent="76200" algn="ctr">
              <a:buClrTx/>
              <a:buSzTx/>
              <a:buFontTx/>
              <a:buNone/>
              <a:defRPr b="1" sz="2000">
                <a:solidFill>
                  <a:srgbClr val="17365D"/>
                </a:solidFill>
              </a:defRPr>
            </a:lvl2pPr>
            <a:lvl3pPr marL="304800" indent="76200" algn="ctr">
              <a:buClrTx/>
              <a:buSzTx/>
              <a:buFontTx/>
              <a:buNone/>
              <a:defRPr b="1" sz="2000">
                <a:solidFill>
                  <a:srgbClr val="17365D"/>
                </a:solidFill>
              </a:defRPr>
            </a:lvl3pPr>
            <a:lvl4pPr marL="304800" indent="76200" algn="ctr">
              <a:buClrTx/>
              <a:buSzTx/>
              <a:buFontTx/>
              <a:buNone/>
              <a:defRPr b="1" sz="2000">
                <a:solidFill>
                  <a:srgbClr val="17365D"/>
                </a:solidFill>
              </a:defRPr>
            </a:lvl4pPr>
            <a:lvl5pPr marL="304800" indent="762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35" name="Title Text"/>
          <p:cNvSpPr txBox="1"/>
          <p:nvPr>
            <p:ph type="title"/>
          </p:nvPr>
        </p:nvSpPr>
        <p:spPr>
          <a:xfrm>
            <a:off x="963084" y="4406903"/>
            <a:ext cx="10363201" cy="1362002"/>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2"/>
          </a:xfrm>
          <a:prstGeom prst="rect">
            <a:avLst/>
          </a:prstGeom>
        </p:spPr>
        <p:txBody>
          <a:bodyPr anchor="b"/>
          <a:lstStyle>
            <a:lvl1pPr marL="0" indent="228600">
              <a:buClrTx/>
              <a:buSzTx/>
              <a:buFontTx/>
              <a:buNone/>
              <a:defRPr sz="2000">
                <a:solidFill>
                  <a:srgbClr val="888888"/>
                </a:solidFill>
              </a:defRPr>
            </a:lvl1pPr>
            <a:lvl2pPr marL="0" indent="228600">
              <a:buClrTx/>
              <a:buSzTx/>
              <a:buFontTx/>
              <a:buNone/>
              <a:defRPr sz="2000">
                <a:solidFill>
                  <a:srgbClr val="888888"/>
                </a:solidFill>
              </a:defRPr>
            </a:lvl2pPr>
            <a:lvl3pPr marL="0" indent="228600">
              <a:buClrTx/>
              <a:buSzTx/>
              <a:buFontTx/>
              <a:buNone/>
              <a:defRPr sz="2000">
                <a:solidFill>
                  <a:srgbClr val="888888"/>
                </a:solidFill>
              </a:defRPr>
            </a:lvl3pPr>
            <a:lvl4pPr marL="0" indent="228600">
              <a:buClrTx/>
              <a:buSzTx/>
              <a:buFontTx/>
              <a:buNone/>
              <a:defRPr sz="2000">
                <a:solidFill>
                  <a:srgbClr val="888888"/>
                </a:solidFill>
              </a:defRPr>
            </a:lvl4pPr>
            <a:lvl5pPr marL="0" indent="2286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2"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8" y="1600202"/>
            <a:ext cx="5384703" cy="4526103"/>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2"/>
          </a:xfrm>
          <a:prstGeom prst="rect">
            <a:avLst/>
          </a:prstGeom>
        </p:spPr>
        <p:txBody>
          <a:bodyPr anchor="b"/>
          <a:lstStyle>
            <a:lvl1pPr marL="0" indent="228600">
              <a:buClrTx/>
              <a:buSzTx/>
              <a:buFontTx/>
              <a:buNone/>
              <a:defRPr b="1"/>
            </a:lvl1pPr>
            <a:lvl2pPr marL="0" indent="228600">
              <a:buClrTx/>
              <a:buSzTx/>
              <a:buFontTx/>
              <a:buNone/>
              <a:defRPr b="1"/>
            </a:lvl2pPr>
            <a:lvl3pPr marL="0" indent="228600">
              <a:buClrTx/>
              <a:buSzTx/>
              <a:buFontTx/>
              <a:buNone/>
              <a:defRPr b="1"/>
            </a:lvl3pPr>
            <a:lvl4pPr marL="0" indent="228600">
              <a:buClrTx/>
              <a:buSzTx/>
              <a:buFontTx/>
              <a:buNone/>
              <a:defRPr b="1"/>
            </a:lvl4pPr>
            <a:lvl5pPr marL="0" indent="2286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2" cy="639902"/>
          </a:xfrm>
          <a:prstGeom prst="rect">
            <a:avLst/>
          </a:prstGeom>
        </p:spPr>
        <p:txBody>
          <a:bodyPr anchor="b"/>
          <a:lstStyle/>
          <a:p>
            <a:pPr/>
          </a:p>
        </p:txBody>
      </p:sp>
      <p:sp>
        <p:nvSpPr>
          <p:cNvPr id="62" name="Google Shape;43;p6"/>
          <p:cNvSpPr txBox="1"/>
          <p:nvPr>
            <p:ph type="body" sz="half" idx="23"/>
          </p:nvPr>
        </p:nvSpPr>
        <p:spPr>
          <a:xfrm>
            <a:off x="6193368" y="2174875"/>
            <a:ext cx="5388902"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72" name="Title Text"/>
          <p:cNvSpPr txBox="1"/>
          <p:nvPr>
            <p:ph type="title"/>
          </p:nvPr>
        </p:nvSpPr>
        <p:spPr>
          <a:xfrm>
            <a:off x="3860800" y="274638"/>
            <a:ext cx="7721700" cy="487502"/>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7" y="139873"/>
            <a:ext cx="9686796"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92" name="Title Text"/>
          <p:cNvSpPr txBox="1"/>
          <p:nvPr>
            <p:ph type="title"/>
          </p:nvPr>
        </p:nvSpPr>
        <p:spPr>
          <a:xfrm>
            <a:off x="609601" y="273050"/>
            <a:ext cx="4011003"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2"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0" y="1435102"/>
            <a:ext cx="4011004" cy="4691103"/>
          </a:xfrm>
          <a:prstGeom prst="rect">
            <a:avLst/>
          </a:prstGeom>
        </p:spPr>
        <p:txBody>
          <a:bodyPr/>
          <a:lstStyle/>
          <a:p>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04" name="Title Text"/>
          <p:cNvSpPr txBox="1"/>
          <p:nvPr>
            <p:ph type="title"/>
          </p:nvPr>
        </p:nvSpPr>
        <p:spPr>
          <a:xfrm>
            <a:off x="2389715" y="4800600"/>
            <a:ext cx="7315202" cy="566702"/>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5" y="612775"/>
            <a:ext cx="7315202"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5" y="5367337"/>
            <a:ext cx="7315202" cy="804902"/>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27" name="Title Text"/>
          <p:cNvSpPr txBox="1"/>
          <p:nvPr>
            <p:ph type="title"/>
          </p:nvPr>
        </p:nvSpPr>
        <p:spPr>
          <a:xfrm rot="5400000">
            <a:off x="7285049" y="1828791"/>
            <a:ext cx="5851502" cy="2743202"/>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8" y="-812860"/>
            <a:ext cx="5851502"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 name="Title Text"/>
          <p:cNvSpPr txBox="1"/>
          <p:nvPr>
            <p:ph type="title"/>
          </p:nvPr>
        </p:nvSpPr>
        <p:spPr>
          <a:xfrm>
            <a:off x="812800" y="274638"/>
            <a:ext cx="10668000" cy="4875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7" y="6397954"/>
            <a:ext cx="297874" cy="281899"/>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8"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900"/>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2"/>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2" cy="202056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00">
                <a:solidFill>
                  <a:srgbClr val="17365D"/>
                </a:solidFill>
                <a:latin typeface="Cambria"/>
                <a:ea typeface="Cambria"/>
                <a:cs typeface="Cambria"/>
                <a:sym typeface="Cambria"/>
              </a:defRPr>
            </a:pPr>
            <a:r>
              <a:t>Under the Supervision of,</a:t>
            </a:r>
          </a:p>
          <a:p>
            <a:pPr algn="ctr" defTabSz="841247">
              <a:spcBef>
                <a:spcPts val="300"/>
              </a:spcBef>
              <a:defRPr sz="1800">
                <a:solidFill>
                  <a:srgbClr val="17365D"/>
                </a:solidFill>
                <a:latin typeface="Cambria"/>
                <a:ea typeface="Cambria"/>
                <a:cs typeface="Cambria"/>
                <a:sym typeface="Cambria"/>
              </a:defRPr>
            </a:pPr>
          </a:p>
          <a:p>
            <a:pPr defTabSz="841247">
              <a:spcBef>
                <a:spcPts val="200"/>
              </a:spcBef>
              <a:defRPr sz="1500">
                <a:solidFill>
                  <a:srgbClr val="17365D"/>
                </a:solidFill>
                <a:latin typeface="Cambria"/>
                <a:ea typeface="Cambria"/>
                <a:cs typeface="Cambria"/>
                <a:sym typeface="Cambria"/>
              </a:defRPr>
            </a:pPr>
            <a:r>
              <a:t>Mr. Jai Kumar B</a:t>
            </a:r>
          </a:p>
          <a:p>
            <a:pPr defTabSz="841247">
              <a:spcBef>
                <a:spcPts val="200"/>
              </a:spcBef>
              <a:defRPr sz="1500">
                <a:solidFill>
                  <a:srgbClr val="17365D"/>
                </a:solidFill>
                <a:latin typeface="Cambria"/>
                <a:ea typeface="Cambria"/>
                <a:cs typeface="Cambria"/>
                <a:sym typeface="Cambria"/>
              </a:defRPr>
            </a:pPr>
            <a:r>
              <a:t>Assistant Professor</a:t>
            </a:r>
          </a:p>
          <a:p>
            <a:pPr defTabSz="841247">
              <a:spcBef>
                <a:spcPts val="200"/>
              </a:spcBef>
              <a:defRPr sz="1500">
                <a:solidFill>
                  <a:srgbClr val="17365D"/>
                </a:solidFill>
                <a:latin typeface="Cambria"/>
                <a:ea typeface="Cambria"/>
                <a:cs typeface="Cambria"/>
                <a:sym typeface="Cambria"/>
              </a:defRPr>
            </a:pPr>
            <a:r>
              <a:t>School of Computer Science and Engineering</a:t>
            </a:r>
          </a:p>
          <a:p>
            <a:pPr defTabSz="841247">
              <a:spcBef>
                <a:spcPts val="200"/>
              </a:spcBef>
              <a:defRPr sz="1500">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3"/>
          <a:ext cx="5822514" cy="3561486"/>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8" y="136439"/>
            <a:ext cx="5407526" cy="6628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Review-2</a:t>
            </a:r>
          </a:p>
        </p:txBody>
      </p:sp>
      <p:sp>
        <p:nvSpPr>
          <p:cNvPr id="143" name="Google Shape;91;p13"/>
          <p:cNvSpPr txBox="1"/>
          <p:nvPr/>
        </p:nvSpPr>
        <p:spPr>
          <a:xfrm>
            <a:off x="45723" y="4533900"/>
            <a:ext cx="12158469" cy="118063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j-lt"/>
                <a:ea typeface="+mj-ea"/>
                <a:cs typeface="+mj-cs"/>
                <a:sym typeface="Arial"/>
              </a:rPr>
              <a:t>CAI-Computer Science &amp; Engineering (Artificial Intelligence &amp; Machine Learning) </a:t>
            </a:r>
          </a:p>
          <a:p>
            <a:pPr>
              <a:defRPr sz="1800">
                <a:solidFill>
                  <a:schemeClr val="accent1"/>
                </a:solidFill>
                <a:latin typeface="Cambria"/>
                <a:ea typeface="Cambria"/>
                <a:cs typeface="Cambria"/>
                <a:sym typeface="Cambria"/>
              </a:defRPr>
            </a:pPr>
            <a:r>
              <a:t>Name of the HoD: </a:t>
            </a:r>
            <a:r>
              <a:rPr>
                <a:solidFill>
                  <a:srgbClr val="000000"/>
                </a:solidFill>
                <a:latin typeface="+mj-lt"/>
                <a:ea typeface="+mj-ea"/>
                <a:cs typeface="+mj-cs"/>
                <a:sym typeface="Arial"/>
              </a:rPr>
              <a:t>Dr. Zafar Ali Khan N</a:t>
            </a: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j-lt"/>
                <a:ea typeface="+mj-ea"/>
                <a:cs typeface="+mj-cs"/>
                <a:sym typeface="Arial"/>
              </a:rPr>
              <a:t>Ms. Suma N G</a:t>
            </a: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2"/>
          </a:xfrm>
          <a:prstGeom prst="rect">
            <a:avLst/>
          </a:prstGeom>
        </p:spPr>
        <p:txBody>
          <a:bodyPr/>
          <a:lstStyle>
            <a:lvl1pPr defTabSz="850391">
              <a:defRPr sz="2600"/>
            </a:lvl1pPr>
          </a:lstStyle>
          <a:p>
            <a:pPr/>
            <a:r>
              <a:t>Abstract</a:t>
            </a:r>
          </a:p>
        </p:txBody>
      </p:sp>
      <p:sp>
        <p:nvSpPr>
          <p:cNvPr id="146" name="Text Placeholder 2"/>
          <p:cNvSpPr txBox="1"/>
          <p:nvPr>
            <p:ph type="body" idx="1"/>
          </p:nvPr>
        </p:nvSpPr>
        <p:spPr>
          <a:xfrm>
            <a:off x="812800" y="1142999"/>
            <a:ext cx="10668000" cy="4953003"/>
          </a:xfrm>
          <a:prstGeom prst="rect">
            <a:avLst/>
          </a:prstGeom>
        </p:spPr>
        <p:txBody>
          <a:bodyPr/>
          <a:lstStyle/>
          <a:p>
            <a:pPr>
              <a:lnSpc>
                <a:spcPct val="90000"/>
              </a:lnSpc>
            </a:pPr>
            <a:r>
              <a:t>Skin diseases are among the most common health issues worldwide, but timely diagnosis is often limited due to shortage of dermatologists and lack of access to specialized care. This project proposes an </a:t>
            </a:r>
            <a:r>
              <a:rPr b="1"/>
              <a:t>AI-based tool</a:t>
            </a:r>
            <a:r>
              <a:t> that enables </a:t>
            </a:r>
            <a:r>
              <a:rPr b="1"/>
              <a:t>preliminary diagnosis of dermatological manifestations</a:t>
            </a:r>
            <a:r>
              <a:t> using </a:t>
            </a:r>
            <a:r>
              <a:rPr b="1"/>
              <a:t>deep learning models</a:t>
            </a:r>
            <a:r>
              <a:t> trained on dermatoscopic and clinical skin images. The system assists patients and healthcare workers by identifying possible conditions and providing recommendations for further consultation. The approach integrates </a:t>
            </a:r>
            <a:r>
              <a:rPr b="1"/>
              <a:t>Convolutional Neural Networks (CNNs), transfer learning, and explainable AI</a:t>
            </a:r>
            <a:r>
              <a:t> techniques, ensuring robust classification and interpretable predictions. This solution aims to provide </a:t>
            </a:r>
            <a:r>
              <a:rPr b="1"/>
              <a:t>low-cost, accessible, and scalable</a:t>
            </a:r>
            <a:r>
              <a:t> healthcare support in dermatology.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itle 1"/>
          <p:cNvSpPr txBox="1"/>
          <p:nvPr>
            <p:ph type="title"/>
          </p:nvPr>
        </p:nvSpPr>
        <p:spPr>
          <a:xfrm>
            <a:off x="812800" y="274638"/>
            <a:ext cx="10668000" cy="487502"/>
          </a:xfrm>
          <a:prstGeom prst="rect">
            <a:avLst/>
          </a:prstGeom>
        </p:spPr>
        <p:txBody>
          <a:bodyPr/>
          <a:lstStyle>
            <a:lvl1pPr defTabSz="850391">
              <a:defRPr sz="2600"/>
            </a:lvl1pPr>
          </a:lstStyle>
          <a:p>
            <a:pPr/>
            <a:r>
              <a:t>Literature Survey (10 Papers Reviewed)</a:t>
            </a:r>
          </a:p>
        </p:txBody>
      </p:sp>
      <p:sp>
        <p:nvSpPr>
          <p:cNvPr id="149" name="Text Placeholder 2"/>
          <p:cNvSpPr txBox="1"/>
          <p:nvPr>
            <p:ph type="body" idx="1"/>
          </p:nvPr>
        </p:nvSpPr>
        <p:spPr>
          <a:xfrm>
            <a:off x="812800" y="1142999"/>
            <a:ext cx="10668000" cy="4953003"/>
          </a:xfrm>
          <a:prstGeom prst="rect">
            <a:avLst/>
          </a:prstGeom>
        </p:spPr>
        <p:txBody>
          <a:bodyPr/>
          <a:lstStyle/>
          <a:p>
            <a:pPr>
              <a:lnSpc>
                <a:spcPct val="80000"/>
              </a:lnSpc>
              <a:buSzPts val="1800"/>
              <a:defRPr sz="1800"/>
            </a:pPr>
            <a:r>
              <a:t>Artificial Intelligence in Skin Cancer Diagnosis: A Reality Check (2023)</a:t>
            </a:r>
          </a:p>
          <a:p>
            <a:pPr>
              <a:lnSpc>
                <a:spcPct val="80000"/>
              </a:lnSpc>
              <a:buSzPts val="1800"/>
              <a:defRPr sz="1800"/>
            </a:pPr>
            <a:r>
              <a:t>Skin cancer detection using deep machine learning techniques (2024)</a:t>
            </a:r>
          </a:p>
          <a:p>
            <a:pPr>
              <a:lnSpc>
                <a:spcPct val="80000"/>
              </a:lnSpc>
              <a:buSzPts val="1800"/>
              <a:defRPr sz="1800"/>
            </a:pPr>
            <a:r>
              <a:t>AI-Powered Diagnosis of Skin Cancer: A Contemporary Review, Open  Challenges and Future Research Directions (2023)</a:t>
            </a:r>
          </a:p>
          <a:p>
            <a:pPr>
              <a:lnSpc>
                <a:spcPct val="80000"/>
              </a:lnSpc>
              <a:buSzPts val="1800"/>
              <a:defRPr sz="1800"/>
            </a:pPr>
            <a:r>
              <a:t>Review on Automated Skin Cancer Detection Using Image Processing Techniques(2023)</a:t>
            </a:r>
          </a:p>
          <a:p>
            <a:pPr>
              <a:lnSpc>
                <a:spcPct val="80000"/>
              </a:lnSpc>
              <a:buSzPts val="1800"/>
              <a:defRPr sz="1800"/>
            </a:pPr>
            <a:r>
              <a:t>Enhanced skin cancer diagnosis: a deep feature extraction-based framework for the multi-classification of skin cancer utilizing dermoscopy images (2024)</a:t>
            </a:r>
          </a:p>
          <a:p>
            <a:pPr>
              <a:lnSpc>
                <a:spcPct val="80000"/>
              </a:lnSpc>
              <a:buSzPts val="1800"/>
              <a:defRPr sz="1800"/>
            </a:pPr>
            <a:r>
              <a:t>Artificial intelligence for skin cancer detection and classification for clinical environment: a systematic review(2024)</a:t>
            </a:r>
          </a:p>
          <a:p>
            <a:pPr>
              <a:lnSpc>
                <a:spcPct val="80000"/>
              </a:lnSpc>
              <a:buSzPts val="1800"/>
              <a:defRPr sz="1800"/>
            </a:pPr>
            <a:r>
              <a:t>Detection of Skin Cancer Based on Skin Lesion Images Using Deep Learning(2022)</a:t>
            </a:r>
          </a:p>
          <a:p>
            <a:pPr>
              <a:lnSpc>
                <a:spcPct val="80000"/>
              </a:lnSpc>
              <a:buSzPts val="1800"/>
              <a:defRPr sz="1800"/>
            </a:pPr>
            <a:r>
              <a:t>Skin cancer detection using multi-scale deep learning and transfer learning(2023)</a:t>
            </a:r>
          </a:p>
          <a:p>
            <a:pPr>
              <a:lnSpc>
                <a:spcPct val="80000"/>
              </a:lnSpc>
              <a:buSzPts val="1800"/>
              <a:defRPr sz="1800"/>
            </a:pPr>
            <a:r>
              <a:t>A precise model for skin cancer diagnosis using hybrid U‑Net and improved MobileNet‑V3 with hyperparameters optimization(2024)</a:t>
            </a:r>
          </a:p>
          <a:p>
            <a:pPr>
              <a:lnSpc>
                <a:spcPct val="80000"/>
              </a:lnSpc>
              <a:buSzPts val="1800"/>
              <a:defRPr sz="1800"/>
            </a:pPr>
            <a:r>
              <a:t>Boosting skin cancer diagnosis accuracy with ensemble approach(2025)</a:t>
            </a:r>
          </a:p>
          <a:p>
            <a:pPr>
              <a:lnSpc>
                <a:spcPct val="80000"/>
              </a:lnSpc>
              <a:buSzPts val="1800"/>
              <a:defRPr sz="1800"/>
            </a:pPr>
            <a:r>
              <a:t>A robust deep learning framework for multiclass skin cancer classification(2025)</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itle 1"/>
          <p:cNvSpPr txBox="1"/>
          <p:nvPr>
            <p:ph type="title"/>
          </p:nvPr>
        </p:nvSpPr>
        <p:spPr>
          <a:xfrm>
            <a:off x="812800" y="274638"/>
            <a:ext cx="10668000" cy="487502"/>
          </a:xfrm>
          <a:prstGeom prst="rect">
            <a:avLst/>
          </a:prstGeom>
        </p:spPr>
        <p:txBody>
          <a:bodyPr/>
          <a:lstStyle>
            <a:lvl1pPr defTabSz="850391">
              <a:defRPr sz="2600"/>
            </a:lvl1pPr>
          </a:lstStyle>
          <a:p>
            <a:pPr/>
            <a:r>
              <a:t>Objectives</a:t>
            </a:r>
          </a:p>
        </p:txBody>
      </p:sp>
      <p:sp>
        <p:nvSpPr>
          <p:cNvPr id="152" name="Text Placeholder 2"/>
          <p:cNvSpPr txBox="1"/>
          <p:nvPr>
            <p:ph type="body" idx="1"/>
          </p:nvPr>
        </p:nvSpPr>
        <p:spPr>
          <a:xfrm>
            <a:off x="812800" y="1142999"/>
            <a:ext cx="10668000" cy="4953003"/>
          </a:xfrm>
          <a:prstGeom prst="rect">
            <a:avLst/>
          </a:prstGeom>
        </p:spPr>
        <p:txBody>
          <a:bodyPr/>
          <a:lstStyle/>
          <a:p>
            <a:pPr marL="0" indent="76200">
              <a:lnSpc>
                <a:spcPct val="80000"/>
              </a:lnSpc>
              <a:buSzTx/>
              <a:buNone/>
              <a:defRPr b="1" sz="1800"/>
            </a:pPr>
            <a:r>
              <a:t>1. Develop Deep Learning-Based Tool</a:t>
            </a:r>
          </a:p>
          <a:p>
            <a:pPr lvl="1" marL="914400" indent="-355600">
              <a:lnSpc>
                <a:spcPct val="80000"/>
              </a:lnSpc>
              <a:buSzPts val="1500"/>
              <a:defRPr sz="1500"/>
            </a:pPr>
            <a:r>
              <a:t>Build a reliable AI model for accurate skin disease classification.</a:t>
            </a:r>
          </a:p>
          <a:p>
            <a:pPr lvl="1" marL="914400" indent="-355600">
              <a:lnSpc>
                <a:spcPct val="80000"/>
              </a:lnSpc>
              <a:buSzPts val="1500"/>
              <a:defRPr sz="1500"/>
            </a:pPr>
            <a:r>
              <a:t>Achieve dermatologist-level performance using CNN/Transformer models.</a:t>
            </a:r>
            <a:br/>
          </a:p>
          <a:p>
            <a:pPr marL="0" indent="76200">
              <a:lnSpc>
                <a:spcPct val="80000"/>
              </a:lnSpc>
              <a:buSzTx/>
              <a:buNone/>
              <a:defRPr b="1" sz="1800"/>
            </a:pPr>
            <a:r>
              <a:t>2. Enable Preliminary Diagnosis</a:t>
            </a:r>
          </a:p>
          <a:p>
            <a:pPr lvl="1" marL="914400" indent="-355600">
              <a:lnSpc>
                <a:spcPct val="80000"/>
              </a:lnSpc>
              <a:buSzPts val="1500"/>
              <a:defRPr sz="1500"/>
            </a:pPr>
            <a:r>
              <a:t>Support multi-class &amp; multi-label classification.</a:t>
            </a:r>
          </a:p>
          <a:p>
            <a:pPr lvl="1" marL="914400" indent="-355600">
              <a:lnSpc>
                <a:spcPct val="80000"/>
              </a:lnSpc>
              <a:buSzPts val="1500"/>
              <a:defRPr sz="1500"/>
            </a:pPr>
            <a:r>
              <a:t>Assist in identifying conditions requiring urgent medical care.</a:t>
            </a:r>
            <a:br/>
          </a:p>
          <a:p>
            <a:pPr marL="0" indent="76200">
              <a:lnSpc>
                <a:spcPct val="80000"/>
              </a:lnSpc>
              <a:buSzTx/>
              <a:buNone/>
              <a:defRPr b="1" sz="1800"/>
            </a:pPr>
            <a:r>
              <a:t>3. Ensure Scalability Across Skin Tones</a:t>
            </a:r>
          </a:p>
          <a:p>
            <a:pPr lvl="1" marL="914400" indent="-355600">
              <a:lnSpc>
                <a:spcPct val="80000"/>
              </a:lnSpc>
              <a:buSzPts val="1500"/>
              <a:defRPr sz="1500"/>
            </a:pPr>
            <a:r>
              <a:t>Train with diverse datasets (age, ethnicity, lighting).</a:t>
            </a:r>
          </a:p>
          <a:p>
            <a:pPr lvl="1" marL="914400" indent="-355600">
              <a:lnSpc>
                <a:spcPct val="80000"/>
              </a:lnSpc>
              <a:buSzPts val="1500"/>
              <a:defRPr sz="1500"/>
            </a:pPr>
            <a:r>
              <a:t>Adaptable to new datasets for real-world usage.</a:t>
            </a:r>
            <a:br/>
          </a:p>
          <a:p>
            <a:pPr marL="0" indent="76200">
              <a:lnSpc>
                <a:spcPct val="80000"/>
              </a:lnSpc>
              <a:buSzTx/>
              <a:buNone/>
              <a:defRPr b="1" sz="1800"/>
            </a:pPr>
            <a:r>
              <a:t>4. Integrate Explainable AI</a:t>
            </a:r>
          </a:p>
          <a:p>
            <a:pPr lvl="1" marL="914400" indent="-355600">
              <a:lnSpc>
                <a:spcPct val="80000"/>
              </a:lnSpc>
              <a:buSzPts val="1500"/>
              <a:defRPr sz="1500"/>
            </a:pPr>
            <a:r>
              <a:t>Use Grad-CAM, LIME, SHAP for visual explanations.</a:t>
            </a:r>
          </a:p>
          <a:p>
            <a:pPr lvl="1" marL="914400" indent="-355600">
              <a:lnSpc>
                <a:spcPct val="80000"/>
              </a:lnSpc>
              <a:buSzPts val="1500"/>
              <a:defRPr sz="1500"/>
            </a:pPr>
            <a:r>
              <a:t>Improve trust, transparency, and clinical acceptance.</a:t>
            </a:r>
          </a:p>
          <a:p>
            <a:pPr marL="0" indent="76200">
              <a:lnSpc>
                <a:spcPct val="80000"/>
              </a:lnSpc>
              <a:buSzTx/>
              <a:buNone/>
              <a:defRPr sz="1500"/>
            </a:pPr>
            <a:br/>
            <a:r>
              <a:rPr b="1" sz="1800"/>
              <a:t>5. Provide User-Friendly Interfaces</a:t>
            </a:r>
            <a:endParaRPr sz="1800"/>
          </a:p>
          <a:p>
            <a:pPr lvl="1" marL="914400" indent="-355600">
              <a:lnSpc>
                <a:spcPct val="80000"/>
              </a:lnSpc>
              <a:buSzPts val="1500"/>
              <a:defRPr sz="1500"/>
            </a:pPr>
            <a:r>
              <a:t>Web portal for doctors &amp; mobile app for patients.</a:t>
            </a:r>
          </a:p>
          <a:p>
            <a:pPr lvl="1" marL="914400" indent="-355600">
              <a:lnSpc>
                <a:spcPct val="80000"/>
              </a:lnSpc>
              <a:buSzPts val="1500"/>
              <a:defRPr sz="1500"/>
            </a:pPr>
            <a:r>
              <a:t>Features: image upload, instant results, explanations, secure sharing.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itle 1"/>
          <p:cNvSpPr txBox="1"/>
          <p:nvPr>
            <p:ph type="title"/>
          </p:nvPr>
        </p:nvSpPr>
        <p:spPr>
          <a:xfrm>
            <a:off x="812800" y="274638"/>
            <a:ext cx="10668000" cy="487502"/>
          </a:xfrm>
          <a:prstGeom prst="rect">
            <a:avLst/>
          </a:prstGeom>
        </p:spPr>
        <p:txBody>
          <a:bodyPr/>
          <a:lstStyle>
            <a:lvl1pPr defTabSz="850391">
              <a:defRPr sz="2600"/>
            </a:lvl1pPr>
          </a:lstStyle>
          <a:p>
            <a:pPr/>
            <a:r>
              <a:t>Existing Methods and Drawbacks</a:t>
            </a:r>
          </a:p>
        </p:txBody>
      </p:sp>
      <p:sp>
        <p:nvSpPr>
          <p:cNvPr id="155" name="Rectangle 1"/>
          <p:cNvSpPr txBox="1"/>
          <p:nvPr>
            <p:ph type="body" idx="1"/>
          </p:nvPr>
        </p:nvSpPr>
        <p:spPr>
          <a:xfrm>
            <a:off x="812799" y="859518"/>
            <a:ext cx="10589112" cy="4752587"/>
          </a:xfrm>
          <a:prstGeom prst="rect">
            <a:avLst/>
          </a:prstGeom>
        </p:spPr>
        <p:txBody>
          <a:bodyPr lIns="45718" tIns="45718" rIns="45718" bIns="45718" anchor="ctr"/>
          <a:lstStyle/>
          <a:p>
            <a:pPr marL="0" indent="76200">
              <a:buSzTx/>
              <a:buNone/>
              <a:defRPr b="1" sz="1400"/>
            </a:pPr>
            <a:r>
              <a:t>1. Traditional Image Processing</a:t>
            </a:r>
          </a:p>
          <a:p>
            <a:pPr marL="0" indent="76200">
              <a:buSzTx/>
              <a:buNone/>
              <a:defRPr b="1" sz="1400"/>
            </a:pPr>
            <a:r>
              <a:t>	 Method</a:t>
            </a:r>
            <a:r>
              <a:rPr b="0"/>
              <a:t>: Manual feature extraction (texture, color, shape).</a:t>
            </a:r>
          </a:p>
          <a:p>
            <a:pPr marL="0" indent="76200">
              <a:buSzTx/>
              <a:buNone/>
              <a:defRPr b="1" sz="1400"/>
            </a:pPr>
            <a:r>
              <a:t>	Drawback</a:t>
            </a:r>
            <a:r>
              <a:rPr b="0"/>
              <a:t>: Limited accuracy, high dependency on handcrafted features.</a:t>
            </a:r>
            <a:br>
              <a:rPr b="0"/>
            </a:br>
          </a:p>
          <a:p>
            <a:pPr marL="0" indent="76200">
              <a:buSzTx/>
              <a:buNone/>
              <a:defRPr b="1" sz="1400"/>
            </a:pPr>
            <a:r>
              <a:t>2. CNN-based Models (ResNet, EfficientNet, Inception)</a:t>
            </a:r>
          </a:p>
          <a:p>
            <a:pPr lvl="1" marL="914400" indent="-355600">
              <a:buSzPts val="1400"/>
              <a:defRPr b="1" sz="1400"/>
            </a:pPr>
            <a:r>
              <a:t>Method</a:t>
            </a:r>
            <a:r>
              <a:rPr b="0"/>
              <a:t>: Deep convolutional networks trained on dermatology datasets.</a:t>
            </a:r>
            <a:endParaRPr sz="2000"/>
          </a:p>
          <a:p>
            <a:pPr lvl="1" marL="914400" indent="-355600">
              <a:buSzPts val="1400"/>
              <a:defRPr b="1" sz="1400"/>
            </a:pPr>
            <a:r>
              <a:t>Strength</a:t>
            </a:r>
            <a:r>
              <a:rPr b="0"/>
              <a:t>: High accuracy for disease classification.</a:t>
            </a:r>
            <a:endParaRPr sz="2000"/>
          </a:p>
          <a:p>
            <a:pPr lvl="1" marL="914400" indent="-355600">
              <a:buSzPts val="1400"/>
              <a:defRPr b="1" sz="1400"/>
            </a:pPr>
            <a:r>
              <a:t>Drawback</a:t>
            </a:r>
            <a:r>
              <a:rPr b="0"/>
              <a:t>: Require very large and diverse labeled datasets to generalize well.</a:t>
            </a:r>
            <a:br>
              <a:rPr b="0"/>
            </a:br>
          </a:p>
          <a:p>
            <a:pPr marL="0" indent="76200">
              <a:buSzTx/>
              <a:buNone/>
              <a:defRPr b="1" sz="1400"/>
            </a:pPr>
            <a:r>
              <a:t>3. Federated Learning Models</a:t>
            </a:r>
          </a:p>
          <a:p>
            <a:pPr lvl="1" marL="914400" indent="-355600">
              <a:buSzPts val="1400"/>
              <a:defRPr b="1" sz="1400"/>
            </a:pPr>
            <a:r>
              <a:t>Method</a:t>
            </a:r>
            <a:r>
              <a:rPr b="0"/>
              <a:t>: Distributed training across multiple devices/institutions without data sharing.</a:t>
            </a:r>
            <a:endParaRPr sz="2000"/>
          </a:p>
          <a:p>
            <a:pPr lvl="1" marL="914400" indent="-355600">
              <a:buSzPts val="1400"/>
              <a:defRPr b="1" sz="1400"/>
            </a:pPr>
            <a:r>
              <a:t>Strength</a:t>
            </a:r>
            <a:r>
              <a:rPr b="0"/>
              <a:t>: Protects patient privacy and enables multi-institutional learning.</a:t>
            </a:r>
            <a:endParaRPr sz="2000"/>
          </a:p>
          <a:p>
            <a:pPr lvl="1" marL="914400" indent="-355600">
              <a:buSzPts val="1400"/>
              <a:defRPr b="1" sz="1400"/>
            </a:pPr>
            <a:r>
              <a:t>Drawback</a:t>
            </a:r>
            <a:r>
              <a:rPr b="0"/>
              <a:t>: Computationally heavy and difficult to implement in real-world clinical settings.</a:t>
            </a:r>
            <a:endParaRPr sz="2000"/>
          </a:p>
          <a:p>
            <a:pPr lvl="1" marL="914400" indent="-355600">
              <a:buSzPts val="1400"/>
              <a:defRPr b="1" sz="1400"/>
            </a:pPr>
            <a:r>
              <a:t>General Limitations</a:t>
            </a:r>
            <a:endParaRPr sz="2000"/>
          </a:p>
          <a:p>
            <a:pPr lvl="1" marL="914400" indent="-355600">
              <a:buSzPts val="1400"/>
              <a:defRPr b="1" sz="1400"/>
            </a:pPr>
            <a:r>
              <a:t>Lack of Generalizability</a:t>
            </a:r>
            <a:r>
              <a:rPr b="0"/>
              <a:t>: Models trained on specific datasets may not work across demographics, skin tones, or environments.</a:t>
            </a:r>
            <a:endParaRPr sz="2000"/>
          </a:p>
          <a:p>
            <a:pPr lvl="1" marL="914400" indent="-355600">
              <a:buSzPts val="1400"/>
              <a:defRPr b="1" sz="1400"/>
            </a:pPr>
            <a:r>
              <a:t>Data Dependency</a:t>
            </a:r>
            <a:r>
              <a:rPr b="0"/>
              <a:t>: Success depends heavily on large labeled datasets, which are costly and time-consuming to curate.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itle 1"/>
          <p:cNvSpPr txBox="1"/>
          <p:nvPr>
            <p:ph type="title"/>
          </p:nvPr>
        </p:nvSpPr>
        <p:spPr>
          <a:xfrm>
            <a:off x="812800" y="274638"/>
            <a:ext cx="10668000" cy="487502"/>
          </a:xfrm>
          <a:prstGeom prst="rect">
            <a:avLst/>
          </a:prstGeom>
        </p:spPr>
        <p:txBody>
          <a:bodyPr/>
          <a:lstStyle>
            <a:lvl1pPr defTabSz="850391">
              <a:defRPr sz="2600"/>
            </a:lvl1pPr>
          </a:lstStyle>
          <a:p>
            <a:pPr/>
            <a:r>
              <a:t>Architecture Diagram</a:t>
            </a:r>
          </a:p>
        </p:txBody>
      </p:sp>
      <p:sp>
        <p:nvSpPr>
          <p:cNvPr id="158" name="Text Placeholder 2"/>
          <p:cNvSpPr txBox="1"/>
          <p:nvPr>
            <p:ph type="body" idx="1"/>
          </p:nvPr>
        </p:nvSpPr>
        <p:spPr>
          <a:xfrm>
            <a:off x="812800" y="1142999"/>
            <a:ext cx="10668000" cy="4953003"/>
          </a:xfrm>
          <a:prstGeom prst="rect">
            <a:avLst/>
          </a:prstGeom>
        </p:spPr>
        <p:txBody>
          <a:bodyPr/>
          <a:lstStyle>
            <a:lvl1pPr marL="0" indent="76200">
              <a:buSzTx/>
              <a:buNone/>
            </a:lvl1pPr>
          </a:lstStyle>
          <a:p>
            <a:pPr/>
            <a:r>
              <a:t>.</a:t>
            </a:r>
          </a:p>
        </p:txBody>
      </p:sp>
      <p:pic>
        <p:nvPicPr>
          <p:cNvPr id="159" name="Picture 5" descr="Picture 5"/>
          <p:cNvPicPr>
            <a:picLocks noChangeAspect="1"/>
          </p:cNvPicPr>
          <p:nvPr/>
        </p:nvPicPr>
        <p:blipFill>
          <a:blip r:embed="rId2">
            <a:extLst/>
          </a:blip>
          <a:stretch>
            <a:fillRect/>
          </a:stretch>
        </p:blipFill>
        <p:spPr>
          <a:xfrm>
            <a:off x="2177935" y="1082733"/>
            <a:ext cx="7107381" cy="5073535"/>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itle 1"/>
          <p:cNvSpPr txBox="1"/>
          <p:nvPr>
            <p:ph type="title"/>
          </p:nvPr>
        </p:nvSpPr>
        <p:spPr>
          <a:xfrm>
            <a:off x="812800" y="274638"/>
            <a:ext cx="10668000" cy="487502"/>
          </a:xfrm>
          <a:prstGeom prst="rect">
            <a:avLst/>
          </a:prstGeom>
        </p:spPr>
        <p:txBody>
          <a:bodyPr/>
          <a:lstStyle>
            <a:lvl1pPr defTabSz="850391">
              <a:defRPr sz="2600"/>
            </a:lvl1pPr>
          </a:lstStyle>
          <a:p>
            <a:pPr/>
            <a:r>
              <a:t>References</a:t>
            </a:r>
          </a:p>
        </p:txBody>
      </p:sp>
      <p:sp>
        <p:nvSpPr>
          <p:cNvPr id="162" name="Text Placeholder 2"/>
          <p:cNvSpPr txBox="1"/>
          <p:nvPr>
            <p:ph type="body" idx="1"/>
          </p:nvPr>
        </p:nvSpPr>
        <p:spPr>
          <a:xfrm>
            <a:off x="812800" y="1142999"/>
            <a:ext cx="10668000" cy="4953003"/>
          </a:xfrm>
          <a:prstGeom prst="rect">
            <a:avLst/>
          </a:prstGeom>
        </p:spPr>
        <p:txBody>
          <a:bodyPr/>
          <a:lstStyle/>
          <a:p>
            <a:pPr marL="0" indent="76200">
              <a:lnSpc>
                <a:spcPct val="80000"/>
              </a:lnSpc>
              <a:buSzTx/>
              <a:buNone/>
              <a:defRPr b="1" sz="1100"/>
            </a:pPr>
            <a:r>
              <a:t>1. </a:t>
            </a:r>
            <a:r>
              <a:rPr b="0"/>
              <a:t>Artificial Intelligence in Skin Cancer Diagnosis: A Reality Check Gabriella Brancaccio1 , Anna Balato1 , Josep Malvehy2,3 , Susana Puig2,3 , Giuseppe Argenziano1 and Harald Kittler4</a:t>
            </a:r>
            <a:endParaRPr sz="2200"/>
          </a:p>
          <a:p>
            <a:pPr marL="0" indent="76200">
              <a:lnSpc>
                <a:spcPct val="80000"/>
              </a:lnSpc>
              <a:buSzTx/>
              <a:buNone/>
              <a:defRPr sz="1200"/>
            </a:pPr>
          </a:p>
          <a:p>
            <a:pPr marL="0" indent="76200">
              <a:lnSpc>
                <a:spcPct val="80000"/>
              </a:lnSpc>
              <a:buSzTx/>
              <a:buNone/>
              <a:defRPr b="1" sz="1100"/>
            </a:pPr>
            <a:r>
              <a:t>2. </a:t>
            </a:r>
            <a:r>
              <a:rPr b="0"/>
              <a:t>Skin cancer detection using deep machine learning techniques Olusoji Akinrinade * , Chunglin Du</a:t>
            </a:r>
            <a:endParaRPr sz="2200"/>
          </a:p>
          <a:p>
            <a:pPr marL="0" indent="76200">
              <a:lnSpc>
                <a:spcPct val="80000"/>
              </a:lnSpc>
              <a:buSzTx/>
              <a:buNone/>
              <a:defRPr sz="1200"/>
            </a:pPr>
          </a:p>
          <a:p>
            <a:pPr marL="0" indent="76200">
              <a:lnSpc>
                <a:spcPct val="80000"/>
              </a:lnSpc>
              <a:buSzTx/>
              <a:buNone/>
              <a:defRPr b="1" sz="1100"/>
            </a:pPr>
            <a:r>
              <a:t>3. </a:t>
            </a:r>
            <a:r>
              <a:rPr b="0"/>
              <a:t>AI-Powered Diagnosis of Skin Cancer: A Contemporary Review, Open Challenges and Future Research Directions</a:t>
            </a:r>
            <a:endParaRPr sz="2200"/>
          </a:p>
          <a:p>
            <a:pPr marL="0" indent="76200">
              <a:lnSpc>
                <a:spcPct val="80000"/>
              </a:lnSpc>
              <a:buSzTx/>
              <a:buNone/>
              <a:defRPr sz="1200"/>
            </a:pPr>
          </a:p>
          <a:p>
            <a:pPr marL="0" indent="76200">
              <a:lnSpc>
                <a:spcPct val="80000"/>
              </a:lnSpc>
              <a:buSzTx/>
              <a:buNone/>
              <a:defRPr b="1" sz="1100"/>
            </a:pPr>
            <a:r>
              <a:t>4. </a:t>
            </a:r>
            <a:r>
              <a:rPr b="0"/>
              <a:t>Review on Automated Skin Cancer Detection Using Image Processing Techniques Haniye Jafari1 , Mojtaba Esmailpour Roshan2 </a:t>
            </a:r>
            <a:endParaRPr sz="2200"/>
          </a:p>
          <a:p>
            <a:pPr marL="0" indent="76200">
              <a:lnSpc>
                <a:spcPct val="80000"/>
              </a:lnSpc>
              <a:buSzTx/>
              <a:buNone/>
              <a:defRPr sz="1200"/>
            </a:pPr>
          </a:p>
          <a:p>
            <a:pPr marL="0" indent="76200">
              <a:lnSpc>
                <a:spcPct val="80000"/>
              </a:lnSpc>
              <a:buSzTx/>
              <a:buNone/>
              <a:defRPr b="1" sz="1100"/>
            </a:pPr>
            <a:r>
              <a:t>5. </a:t>
            </a:r>
            <a:r>
              <a:rPr b="0"/>
              <a:t>Enhanced skin cancer diagnosis: a deep feature extraction-based framework for the multi-classification of skin cancer utilizing dermoscopy images</a:t>
            </a:r>
            <a:endParaRPr sz="2200"/>
          </a:p>
          <a:p>
            <a:pPr marL="0" indent="76200">
              <a:lnSpc>
                <a:spcPct val="80000"/>
              </a:lnSpc>
              <a:buSzTx/>
              <a:buNone/>
              <a:defRPr sz="1200"/>
            </a:pPr>
          </a:p>
          <a:p>
            <a:pPr marL="0" indent="76200">
              <a:lnSpc>
                <a:spcPct val="80000"/>
              </a:lnSpc>
              <a:buSzTx/>
              <a:buNone/>
              <a:defRPr b="1" sz="1100"/>
            </a:pPr>
            <a:r>
              <a:t>6. </a:t>
            </a:r>
            <a:r>
              <a:rPr b="0"/>
              <a:t>Artificial intelligence for skin cancer detection and classification for clinical environment: a systematic review</a:t>
            </a:r>
            <a:endParaRPr sz="2200"/>
          </a:p>
          <a:p>
            <a:pPr marL="0" indent="76200">
              <a:lnSpc>
                <a:spcPct val="80000"/>
              </a:lnSpc>
              <a:buSzTx/>
              <a:buNone/>
              <a:defRPr sz="1200"/>
            </a:pPr>
          </a:p>
          <a:p>
            <a:pPr marL="0" indent="76200">
              <a:lnSpc>
                <a:spcPct val="80000"/>
              </a:lnSpc>
              <a:buSzTx/>
              <a:buNone/>
              <a:defRPr b="1" sz="1100"/>
            </a:pPr>
            <a:r>
              <a:t>7. </a:t>
            </a:r>
            <a:r>
              <a:rPr b="0"/>
              <a:t>Detection of Skin Cancer Based on Skin Lesion Images Using Deep Learning Walaa Gouda 1,2,* , Najm Us Sama 3 , Ghada Al-Waakid 4 ,       Mamoona Humayun 5,* and Noor Zaman Jhanjhi 6</a:t>
            </a:r>
            <a:endParaRPr sz="2200"/>
          </a:p>
          <a:p>
            <a:pPr marL="0" indent="76200">
              <a:lnSpc>
                <a:spcPct val="80000"/>
              </a:lnSpc>
              <a:buSzTx/>
              <a:buNone/>
              <a:defRPr sz="1200"/>
            </a:pPr>
          </a:p>
          <a:p>
            <a:pPr marL="0" indent="76200">
              <a:lnSpc>
                <a:spcPct val="80000"/>
              </a:lnSpc>
              <a:buSzTx/>
              <a:buNone/>
              <a:defRPr b="1" sz="1100"/>
            </a:pPr>
            <a:r>
              <a:t>8. </a:t>
            </a:r>
            <a:r>
              <a:rPr b="0"/>
              <a:t>Skin cancer detection using multi-scale deep learning and transfer learning</a:t>
            </a:r>
            <a:endParaRPr sz="2200"/>
          </a:p>
          <a:p>
            <a:pPr marL="0" indent="76200">
              <a:lnSpc>
                <a:spcPct val="80000"/>
              </a:lnSpc>
              <a:buSzTx/>
              <a:buNone/>
              <a:defRPr sz="1200"/>
            </a:pPr>
          </a:p>
          <a:p>
            <a:pPr marL="0" indent="76200">
              <a:lnSpc>
                <a:spcPct val="80000"/>
              </a:lnSpc>
              <a:buSzTx/>
              <a:buNone/>
              <a:defRPr b="1" sz="1100"/>
            </a:pPr>
            <a:r>
              <a:t>9. </a:t>
            </a:r>
            <a:r>
              <a:rPr b="0"/>
              <a:t>A precise model for skin cancer diagnosis using hybrid U‑Net and improved MobileNet‑V3 with hyperparameters optimization</a:t>
            </a:r>
            <a:endParaRPr sz="2200"/>
          </a:p>
          <a:p>
            <a:pPr marL="0" indent="76200">
              <a:lnSpc>
                <a:spcPct val="80000"/>
              </a:lnSpc>
              <a:buSzTx/>
              <a:buNone/>
              <a:defRPr sz="1200"/>
            </a:pPr>
          </a:p>
          <a:p>
            <a:pPr marL="0" indent="76200">
              <a:lnSpc>
                <a:spcPct val="80000"/>
              </a:lnSpc>
              <a:buSzTx/>
              <a:buNone/>
              <a:defRPr b="1" sz="1100"/>
            </a:pPr>
            <a:r>
              <a:t>10. </a:t>
            </a:r>
            <a:r>
              <a:rPr b="0"/>
              <a:t>Boosting skin cancer diagnosis accuracy with ensemble approach</a:t>
            </a:r>
            <a:endParaRPr sz="2200"/>
          </a:p>
          <a:p>
            <a:pPr marL="0" indent="76200">
              <a:lnSpc>
                <a:spcPct val="80000"/>
              </a:lnSpc>
              <a:buSzTx/>
              <a:buNone/>
              <a:defRPr sz="1200"/>
            </a:pPr>
          </a:p>
          <a:p>
            <a:pPr marL="0" indent="76200">
              <a:lnSpc>
                <a:spcPct val="80000"/>
              </a:lnSpc>
              <a:buSzTx/>
              <a:buNone/>
              <a:defRPr b="1" sz="1100"/>
            </a:pPr>
            <a:r>
              <a:t>11. </a:t>
            </a:r>
            <a:r>
              <a:rPr b="0"/>
              <a:t>A robust deep learning framework for multiclass skin cancer classification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4" name="Picture 4" descr="Picture 4"/>
          <p:cNvPicPr>
            <a:picLocks noChangeAspect="1"/>
          </p:cNvPicPr>
          <p:nvPr/>
        </p:nvPicPr>
        <p:blipFill>
          <a:blip r:embed="rId2">
            <a:extLst/>
          </a:blip>
          <a:stretch>
            <a:fillRect/>
          </a:stretch>
        </p:blipFill>
        <p:spPr>
          <a:xfrm>
            <a:off x="4082810" y="1441315"/>
            <a:ext cx="3893307" cy="393547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