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6" name="Shape 13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itle Text"/>
          <p:cNvSpPr txBox="1"/>
          <p:nvPr>
            <p:ph type="title"/>
          </p:nvPr>
        </p:nvSpPr>
        <p:spPr>
          <a:xfrm>
            <a:off x="1050877" y="1322386"/>
            <a:ext cx="10363201" cy="147000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" name="Body Level One…"/>
          <p:cNvSpPr txBox="1"/>
          <p:nvPr>
            <p:ph type="body" sz="quarter" idx="1"/>
          </p:nvPr>
        </p:nvSpPr>
        <p:spPr>
          <a:xfrm>
            <a:off x="2032000" y="3326641"/>
            <a:ext cx="8534400" cy="1752603"/>
          </a:xfrm>
          <a:prstGeom prst="rect">
            <a:avLst/>
          </a:prstGeom>
        </p:spPr>
        <p:txBody>
          <a:bodyPr/>
          <a:lstStyle>
            <a:lvl1pPr marL="228600" indent="-1524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1pPr>
            <a:lvl2pPr marL="2286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2pPr>
            <a:lvl3pPr marL="2286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3pPr>
            <a:lvl4pPr marL="2286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4pPr>
            <a:lvl5pPr marL="2286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itle Text"/>
          <p:cNvSpPr txBox="1"/>
          <p:nvPr>
            <p:ph type="title"/>
          </p:nvPr>
        </p:nvSpPr>
        <p:spPr>
          <a:xfrm>
            <a:off x="963084" y="4406903"/>
            <a:ext cx="10363201" cy="1362003"/>
          </a:xfrm>
          <a:prstGeom prst="rect">
            <a:avLst/>
          </a:prstGeom>
        </p:spPr>
        <p:txBody>
          <a:bodyPr anchor="t"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303"/>
          </a:xfrm>
          <a:prstGeom prst="rect">
            <a:avLst/>
          </a:prstGeom>
        </p:spPr>
        <p:txBody>
          <a:bodyPr anchor="b"/>
          <a:lstStyle>
            <a:lvl1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5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sz="half" idx="1"/>
          </p:nvPr>
        </p:nvSpPr>
        <p:spPr>
          <a:xfrm>
            <a:off x="609600" y="1600203"/>
            <a:ext cx="5384702" cy="4526101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8" indent="-497838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Google Shape;34;p5"/>
          <p:cNvSpPr txBox="1"/>
          <p:nvPr>
            <p:ph type="body" sz="half" idx="21"/>
          </p:nvPr>
        </p:nvSpPr>
        <p:spPr>
          <a:xfrm>
            <a:off x="6197598" y="1600201"/>
            <a:ext cx="5384704" cy="45261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7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/>
          <p:nvPr>
            <p:ph type="title"/>
          </p:nvPr>
        </p:nvSpPr>
        <p:spPr>
          <a:xfrm>
            <a:off x="859367" y="304800"/>
            <a:ext cx="10668001" cy="487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800" cy="639902"/>
          </a:xfrm>
          <a:prstGeom prst="rect">
            <a:avLst/>
          </a:prstGeom>
        </p:spPr>
        <p:txBody>
          <a:bodyPr anchor="b"/>
          <a:lstStyle>
            <a:lvl1pPr marL="0" indent="228600">
              <a:buClrTx/>
              <a:buSzTx/>
              <a:buFontTx/>
              <a:buNone/>
              <a:defRPr b="1"/>
            </a:lvl1pPr>
            <a:lvl2pPr marL="0" indent="228600">
              <a:buClrTx/>
              <a:buSzTx/>
              <a:buFontTx/>
              <a:buNone/>
              <a:defRPr b="1"/>
            </a:lvl2pPr>
            <a:lvl3pPr marL="0" indent="228600">
              <a:buClrTx/>
              <a:buSzTx/>
              <a:buFontTx/>
              <a:buNone/>
              <a:defRPr b="1"/>
            </a:lvl3pPr>
            <a:lvl4pPr marL="0" indent="228600">
              <a:buClrTx/>
              <a:buSzTx/>
              <a:buFontTx/>
              <a:buNone/>
              <a:defRPr b="1"/>
            </a:lvl4pPr>
            <a:lvl5pPr marL="0" indent="228600">
              <a:buClrTx/>
              <a:buSzTx/>
              <a:buFontTx/>
              <a:buNone/>
              <a:defRPr b="1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Google Shape;41;p6"/>
          <p:cNvSpPr txBox="1"/>
          <p:nvPr>
            <p:ph type="body" sz="half" idx="21"/>
          </p:nvPr>
        </p:nvSpPr>
        <p:spPr>
          <a:xfrm>
            <a:off x="609599" y="2174875"/>
            <a:ext cx="5386802" cy="39513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Google Shape;42;p6"/>
          <p:cNvSpPr txBox="1"/>
          <p:nvPr>
            <p:ph type="body" sz="quarter" idx="22"/>
          </p:nvPr>
        </p:nvSpPr>
        <p:spPr>
          <a:xfrm>
            <a:off x="6193368" y="1535112"/>
            <a:ext cx="5388903" cy="639902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62" name="Google Shape;43;p6"/>
          <p:cNvSpPr txBox="1"/>
          <p:nvPr>
            <p:ph type="body" sz="half" idx="23"/>
          </p:nvPr>
        </p:nvSpPr>
        <p:spPr>
          <a:xfrm>
            <a:off x="6193368" y="2174875"/>
            <a:ext cx="5388903" cy="39513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/>
          <p:nvPr>
            <p:ph type="title"/>
          </p:nvPr>
        </p:nvSpPr>
        <p:spPr>
          <a:xfrm>
            <a:off x="3860800" y="274638"/>
            <a:ext cx="7721700" cy="4875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73" name="Google Shape;52;p7" descr="Google Shape;52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05206" y="139873"/>
            <a:ext cx="9686798" cy="698327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2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itle Text"/>
          <p:cNvSpPr txBox="1"/>
          <p:nvPr>
            <p:ph type="title"/>
          </p:nvPr>
        </p:nvSpPr>
        <p:spPr>
          <a:xfrm>
            <a:off x="609601" y="273050"/>
            <a:ext cx="4011003" cy="1162200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idx="1"/>
          </p:nvPr>
        </p:nvSpPr>
        <p:spPr>
          <a:xfrm>
            <a:off x="4766733" y="273053"/>
            <a:ext cx="6815702" cy="5853001"/>
          </a:xfrm>
          <a:prstGeom prst="rect">
            <a:avLst/>
          </a:prstGeom>
        </p:spPr>
        <p:txBody>
          <a:bodyPr/>
          <a:lstStyle>
            <a:lvl1pPr indent="-431800">
              <a:spcBef>
                <a:spcPts val="600"/>
              </a:spcBef>
              <a:buSzPts val="3200"/>
              <a:defRPr sz="3200"/>
            </a:lvl1pPr>
            <a:lvl2pPr marL="972457" indent="-464457">
              <a:spcBef>
                <a:spcPts val="600"/>
              </a:spcBef>
              <a:buSzPts val="3200"/>
              <a:defRPr sz="3200"/>
            </a:lvl2pPr>
            <a:lvl3pPr marL="1498600" indent="-508000">
              <a:spcBef>
                <a:spcPts val="600"/>
              </a:spcBef>
              <a:buSzPts val="3200"/>
              <a:defRPr sz="3200"/>
            </a:lvl3pPr>
            <a:lvl4pPr marL="2042160" indent="-568960">
              <a:spcBef>
                <a:spcPts val="600"/>
              </a:spcBef>
              <a:buSzPts val="3200"/>
              <a:defRPr sz="3200"/>
            </a:lvl4pPr>
            <a:lvl5pPr marL="2499360" indent="-568960">
              <a:spcBef>
                <a:spcPts val="600"/>
              </a:spcBef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Google Shape;60;p9"/>
          <p:cNvSpPr txBox="1"/>
          <p:nvPr>
            <p:ph type="body" sz="half" idx="21"/>
          </p:nvPr>
        </p:nvSpPr>
        <p:spPr>
          <a:xfrm>
            <a:off x="609599" y="1435102"/>
            <a:ext cx="4011006" cy="469110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itle Text"/>
          <p:cNvSpPr txBox="1"/>
          <p:nvPr>
            <p:ph type="title"/>
          </p:nvPr>
        </p:nvSpPr>
        <p:spPr>
          <a:xfrm>
            <a:off x="2389714" y="4800600"/>
            <a:ext cx="7315204" cy="566702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5" name="Google Shape;66;p10"/>
          <p:cNvSpPr/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6" name="Body Level One…"/>
          <p:cNvSpPr txBox="1"/>
          <p:nvPr>
            <p:ph type="body" sz="quarter" idx="1"/>
          </p:nvPr>
        </p:nvSpPr>
        <p:spPr>
          <a:xfrm>
            <a:off x="2389714" y="5367337"/>
            <a:ext cx="7315204" cy="804903"/>
          </a:xfrm>
          <a:prstGeom prst="rect">
            <a:avLst/>
          </a:prstGeom>
        </p:spPr>
        <p:txBody>
          <a:bodyPr/>
          <a:lstStyle>
            <a:lvl1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5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7" name="Body Level One…"/>
          <p:cNvSpPr txBox="1"/>
          <p:nvPr>
            <p:ph type="body" idx="1"/>
          </p:nvPr>
        </p:nvSpPr>
        <p:spPr>
          <a:xfrm rot="5400000">
            <a:off x="3670300" y="-1714500"/>
            <a:ext cx="4953000" cy="106680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2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itle Text"/>
          <p:cNvSpPr txBox="1"/>
          <p:nvPr>
            <p:ph type="title"/>
          </p:nvPr>
        </p:nvSpPr>
        <p:spPr>
          <a:xfrm rot="5400000">
            <a:off x="7285049" y="1828791"/>
            <a:ext cx="5851503" cy="27432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idx="1"/>
          </p:nvPr>
        </p:nvSpPr>
        <p:spPr>
          <a:xfrm rot="5400000">
            <a:off x="1696997" y="-812860"/>
            <a:ext cx="5851504" cy="80265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/>
          <p:cNvSpPr/>
          <p:nvPr/>
        </p:nvSpPr>
        <p:spPr>
          <a:xfrm>
            <a:off x="812799" y="914400"/>
            <a:ext cx="10668003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812800" y="1143000"/>
            <a:ext cx="10668000" cy="495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284628" y="6397954"/>
            <a:ext cx="297873" cy="281899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1pPr>
      <a:lvl2pPr marL="985519" marR="0" indent="-42671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2pPr>
      <a:lvl3pPr marL="1485900" marR="0" indent="-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3pPr>
      <a:lvl4pPr marL="19939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4pPr>
      <a:lvl5pPr marL="24511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5pPr>
      <a:lvl6pPr marL="2811777" marR="0" indent="-41147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6pPr>
      <a:lvl7pPr marL="3268979" marR="0" indent="-41147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7pPr>
      <a:lvl8pPr marL="37261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8pPr>
      <a:lvl9pPr marL="41833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87;p13"/>
          <p:cNvSpPr txBox="1"/>
          <p:nvPr>
            <p:ph type="ctrTitle"/>
          </p:nvPr>
        </p:nvSpPr>
        <p:spPr>
          <a:xfrm>
            <a:off x="790468" y="1069101"/>
            <a:ext cx="10363201" cy="962901"/>
          </a:xfrm>
          <a:prstGeom prst="rect">
            <a:avLst/>
          </a:prstGeom>
        </p:spPr>
        <p:txBody>
          <a:bodyPr/>
          <a:lstStyle>
            <a:lvl1pPr algn="ctr">
              <a:defRPr b="0"/>
            </a:lvl1pPr>
          </a:lstStyle>
          <a:p>
            <a:pPr/>
            <a:r>
              <a:t>PSCS_49_Al-based tool for preliminary diagnosis of Dermatological manifestations	</a:t>
            </a:r>
          </a:p>
        </p:txBody>
      </p:sp>
      <p:sp>
        <p:nvSpPr>
          <p:cNvPr id="139" name="Google Shape;88;p13"/>
          <p:cNvSpPr txBox="1"/>
          <p:nvPr>
            <p:ph type="subTitle" sz="quarter" idx="1"/>
          </p:nvPr>
        </p:nvSpPr>
        <p:spPr>
          <a:xfrm>
            <a:off x="790468" y="2045352"/>
            <a:ext cx="4391131" cy="552303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defRPr b="0" sz="18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Batch Number: 2022</a:t>
            </a:r>
          </a:p>
        </p:txBody>
      </p:sp>
      <p:sp>
        <p:nvSpPr>
          <p:cNvPr id="140" name="Google Shape;90;p13"/>
          <p:cNvSpPr txBox="1"/>
          <p:nvPr/>
        </p:nvSpPr>
        <p:spPr>
          <a:xfrm>
            <a:off x="6525920" y="2513339"/>
            <a:ext cx="5422853" cy="2020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ctr" defTabSz="841247">
              <a:defRPr sz="16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Under the Supervision of,</a:t>
            </a:r>
          </a:p>
          <a:p>
            <a:pPr defTabSz="841247">
              <a:spcBef>
                <a:spcPts val="200"/>
              </a:spcBef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Mr. Jai Kumar B</a:t>
            </a: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Assistant Professor</a:t>
            </a: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School of Computer Science and Engineering</a:t>
            </a: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Presidency University</a:t>
            </a:r>
          </a:p>
        </p:txBody>
      </p:sp>
      <p:graphicFrame>
        <p:nvGraphicFramePr>
          <p:cNvPr id="141" name="Google Shape;89;p13"/>
          <p:cNvGraphicFramePr/>
          <p:nvPr/>
        </p:nvGraphicFramePr>
        <p:xfrm>
          <a:off x="553348" y="2452253"/>
          <a:ext cx="5822514" cy="356148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2240390"/>
                <a:gridCol w="3582124"/>
              </a:tblGrid>
              <a:tr h="395724">
                <a:tc>
                  <a:txBody>
                    <a:bodyPr/>
                    <a:lstStyle/>
                    <a:p>
                      <a:pPr lvl="1" algn="ctr">
                        <a:defRPr b="1" sz="1800">
                          <a:solidFill>
                            <a:srgbClr val="17365D"/>
                          </a:solidFill>
                          <a:sym typeface="Arial"/>
                        </a:defRPr>
                      </a:pPr>
                      <a:r>
                        <a:t>Roll Number</a:t>
                      </a: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>
                          <a:solidFill>
                            <a:srgbClr val="17365D"/>
                          </a:solidFill>
                          <a:sym typeface="Arial"/>
                        </a:rPr>
                        <a:t>Student Name</a:t>
                      </a:r>
                    </a:p>
                  </a:txBody>
                  <a:tcPr marL="45725" marR="45725" marT="45725" marB="45725" anchor="ctr" anchorCtr="0" horzOverflow="overflow"/>
                </a:tc>
              </a:tr>
              <a:tr h="1582864">
                <a:tc>
                  <a:txBody>
                    <a:bodyPr/>
                    <a:lstStyle/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20221CAI0037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20221CAI0048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20221CAI0008</a:t>
                      </a: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Armaan Khan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Syed Basim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defRPr>
                      </a:pPr>
                      <a:r>
                        <a:t>Shaik Mahammed Saif</a:t>
                      </a:r>
                      <a:r>
                        <a:rPr sz="1400"/>
                        <a:t>	</a:t>
                      </a: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</a:tbl>
          </a:graphicData>
        </a:graphic>
      </p:graphicFrame>
      <p:sp>
        <p:nvSpPr>
          <p:cNvPr id="142" name="Google Shape;91;p13"/>
          <p:cNvSpPr txBox="1"/>
          <p:nvPr/>
        </p:nvSpPr>
        <p:spPr>
          <a:xfrm>
            <a:off x="2877947" y="136438"/>
            <a:ext cx="5407528" cy="66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CSE7101- Capstone Project</a:t>
            </a:r>
          </a:p>
          <a:p>
            <a:pPr algn="ctr">
              <a:spcBef>
                <a:spcPts val="300"/>
              </a:spcBef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Review-1</a:t>
            </a:r>
          </a:p>
        </p:txBody>
      </p:sp>
      <p:sp>
        <p:nvSpPr>
          <p:cNvPr id="143" name="Google Shape;91;p13"/>
          <p:cNvSpPr txBox="1"/>
          <p:nvPr/>
        </p:nvSpPr>
        <p:spPr>
          <a:xfrm>
            <a:off x="45722" y="4533899"/>
            <a:ext cx="12158471" cy="118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Program: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CAI-Computer Science &amp; Engineering (Artificial Intelligence &amp; Machine Learning) </a:t>
            </a: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HoD: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Dr. Zafar Ali Khan N</a:t>
            </a: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Program Project Coordinator: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Ms. Suma N G</a:t>
            </a: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School Project Coordinators: </a:t>
            </a:r>
            <a:r>
              <a:rPr>
                <a:solidFill>
                  <a:srgbClr val="000000"/>
                </a:solidFill>
              </a:rPr>
              <a:t>Dr. Sampath A K , Dr. Geetha A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96;p14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 Number: </a:t>
            </a:r>
          </a:p>
        </p:txBody>
      </p:sp>
      <p:sp>
        <p:nvSpPr>
          <p:cNvPr id="146" name="Google Shape;97;p14"/>
          <p:cNvSpPr txBox="1"/>
          <p:nvPr>
            <p:ph type="body" idx="1"/>
          </p:nvPr>
        </p:nvSpPr>
        <p:spPr>
          <a:xfrm>
            <a:off x="812800" y="1142998"/>
            <a:ext cx="10668000" cy="4953005"/>
          </a:xfrm>
          <a:prstGeom prst="rect">
            <a:avLst/>
          </a:prstGeom>
        </p:spPr>
        <p:txBody>
          <a:bodyPr/>
          <a:lstStyle/>
          <a:p>
            <a:pPr marL="0" indent="152400" algn="just">
              <a:lnSpc>
                <a:spcPct val="80000"/>
              </a:lnSpc>
              <a:spcBef>
                <a:spcPts val="0"/>
              </a:spcBef>
              <a:buSzTx/>
              <a:buNone/>
              <a:defRPr sz="1500">
                <a:latin typeface="Cambria"/>
                <a:ea typeface="Cambria"/>
                <a:cs typeface="Cambria"/>
                <a:sym typeface="Cambria"/>
              </a:defRPr>
            </a:pPr>
            <a:r>
              <a:t>Organization: MedTech/BioTech/HealthTech</a:t>
            </a:r>
          </a:p>
          <a:p>
            <a:pPr marL="0" indent="152400" algn="just">
              <a:lnSpc>
                <a:spcPct val="160000"/>
              </a:lnSpc>
              <a:spcBef>
                <a:spcPts val="0"/>
              </a:spcBef>
              <a:buSzTx/>
              <a:buNone/>
              <a:defRPr sz="1500">
                <a:latin typeface="Cambria"/>
                <a:ea typeface="Cambria"/>
                <a:cs typeface="Cambria"/>
                <a:sym typeface="Cambria"/>
              </a:defRPr>
            </a:pPr>
            <a:r>
              <a:t>Category (Hardware / Software / Both) :Software</a:t>
            </a:r>
          </a:p>
          <a:p>
            <a:pPr marL="0" indent="152400" algn="just">
              <a:lnSpc>
                <a:spcPct val="160000"/>
              </a:lnSpc>
              <a:spcBef>
                <a:spcPts val="0"/>
              </a:spcBef>
              <a:buSzTx/>
              <a:buNone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t>Problem Description: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Dermatological disorders are highly prevalent and can affect individuals of all ages and backgrounds.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Accurate and timely diagnosis is crucial for effective treatment and the prevention of complications, such as progression to serious diseases like skin cancer.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There is often limited access to dermatology specialists, especially in rural or underserved communities, leading to long wait times and delays in diagnosis.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Healthcare systems are often overwhelmed, and dermatologists face high patient volumes, which can reduce the quality and consistency of care.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The diagnostic process for skin conditions relies on visual assessment, resulting in variability based on clinician experience and increasing the risk of misdiagnosis.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Many patients resort to self-diagnosis using unreliable sources, causing confusion, anxiety, or delays in seeking appropriate medical attention.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There is a growing need for an accessible and efficient preliminary diagnostic tool to support both patients and healthcare providers in the early assessment and triage of skin manifestations.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An AI-based tool can provide instant, consistent, and data-driven preliminary analysis, improving access to care, standardization of diagnosis, and overall patient outcomes.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96;p14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149" name="Google Shape;97;p14"/>
          <p:cNvSpPr txBox="1"/>
          <p:nvPr>
            <p:ph type="body" idx="1"/>
          </p:nvPr>
        </p:nvSpPr>
        <p:spPr>
          <a:xfrm>
            <a:off x="812800" y="1186177"/>
            <a:ext cx="10668000" cy="4485645"/>
          </a:xfrm>
          <a:prstGeom prst="rect">
            <a:avLst/>
          </a:prstGeom>
        </p:spPr>
        <p:txBody>
          <a:bodyPr/>
          <a:lstStyle/>
          <a:p>
            <a:pPr marL="0" indent="152400" algn="just">
              <a:lnSpc>
                <a:spcPct val="160000"/>
              </a:lnSpc>
              <a:spcBef>
                <a:spcPts val="0"/>
              </a:spcBef>
              <a:buSzTx/>
              <a:buNone/>
              <a:defRPr sz="3500">
                <a:latin typeface="Cambria"/>
                <a:ea typeface="Cambria"/>
                <a:cs typeface="Cambria"/>
                <a:sym typeface="Cambria"/>
              </a:defRPr>
            </a:pPr>
            <a:r>
              <a:t>Objectives</a:t>
            </a:r>
            <a:endParaRPr sz="1800"/>
          </a:p>
          <a:p>
            <a:pPr>
              <a:lnSpc>
                <a:spcPct val="80000"/>
              </a:lnSpc>
              <a:buSzPts val="1800"/>
              <a:defRPr sz="1800"/>
            </a:pPr>
            <a:r>
              <a:t>Develop an easy-to-use AI tool that can analyze images of skin conditions quickly and accurately.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Help users get a preliminary diagnosis of various dermatological issues without needing immediate doctor visits.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Improve early detection of serious skin diseases like melanoma to enable timely treatment.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Support doctors by providing a reliable screening tool to prioritize urgent cases.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Make dermatological care more accessible, especially for people in remote or underserved areas.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Reduce the workload on dermatologists by filtering non-urgent cases.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Ensure the tool is secure and protects patient privacy.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Continuously improve the AI’s accuracy by learning from new data and cases.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96;p14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Content (continuation)..</a:t>
            </a:r>
          </a:p>
        </p:txBody>
      </p:sp>
      <p:sp>
        <p:nvSpPr>
          <p:cNvPr id="152" name="Google Shape;97;p14"/>
          <p:cNvSpPr txBox="1"/>
          <p:nvPr>
            <p:ph type="body" idx="1"/>
          </p:nvPr>
        </p:nvSpPr>
        <p:spPr>
          <a:xfrm>
            <a:off x="597592" y="1150387"/>
            <a:ext cx="10668001" cy="3924303"/>
          </a:xfrm>
          <a:prstGeom prst="rect">
            <a:avLst/>
          </a:prstGeom>
        </p:spPr>
        <p:txBody>
          <a:bodyPr/>
          <a:lstStyle/>
          <a:p>
            <a:pPr marL="0" indent="140206" algn="just" defTabSz="841247">
              <a:lnSpc>
                <a:spcPct val="160000"/>
              </a:lnSpc>
              <a:spcBef>
                <a:spcPts val="0"/>
              </a:spcBef>
              <a:buSzTx/>
              <a:buNone/>
              <a:defRPr sz="2500">
                <a:latin typeface="Cambria"/>
                <a:ea typeface="Cambria"/>
                <a:cs typeface="Cambria"/>
                <a:sym typeface="Cambria"/>
              </a:defRPr>
            </a:pPr>
            <a:r>
              <a:t>Background and Related work for title Selection</a:t>
            </a:r>
            <a:endParaRPr sz="500"/>
          </a:p>
          <a:p>
            <a:pPr marL="0" indent="70103" defTabSz="841247">
              <a:lnSpc>
                <a:spcPct val="80000"/>
              </a:lnSpc>
              <a:spcBef>
                <a:spcPts val="300"/>
              </a:spcBef>
              <a:buSzTx/>
              <a:buNone/>
              <a:defRPr sz="500">
                <a:latin typeface="Cambria"/>
                <a:ea typeface="Cambria"/>
                <a:cs typeface="Cambria"/>
                <a:sym typeface="Cambria"/>
              </a:defRPr>
            </a:pPr>
            <a:br/>
            <a:r>
              <a:rPr b="1" sz="1600">
                <a:latin typeface="Verdana"/>
                <a:ea typeface="Verdana"/>
                <a:cs typeface="Verdana"/>
                <a:sym typeface="Verdana"/>
              </a:rPr>
              <a:t>Background</a:t>
            </a:r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Skin diseases affect millions worldwide, ranging from minor to serious conditions.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Early and accurate diagnosis is essential for effective treatment and prevention of complications.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Traditional diagnosis depends on dermatologist availability and clinical expertise.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There is limited access to dermatologists, especially in remote and underserved areas.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Advances in AI and image recognition have created new opportunities for automated diagnosis.</a:t>
            </a:r>
            <a:endParaRPr sz="500"/>
          </a:p>
          <a:p>
            <a:pPr marL="0" indent="70103" defTabSz="841247">
              <a:lnSpc>
                <a:spcPct val="80000"/>
              </a:lnSpc>
              <a:spcBef>
                <a:spcPts val="300"/>
              </a:spcBef>
              <a:buSzTx/>
              <a:buNone/>
              <a:defRPr b="1" sz="1600"/>
            </a:pPr>
            <a:r>
              <a:t>Related Work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AI models using deep learning, especially CNNs, can analyze skin images for diagnosis.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Some AI tools have matched or surpassed dermatologist accuracy in detecting conditions like melanoma.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Existing tools mostly support clinicians or telemedicine but face challenges like data bias and image quality.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Research aims to improve accuracy, disease coverage, and user-friendliness of these AI tools.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This project builds on previous work to develop an accessible tool for preliminary diagnosis that helps patients and doctors.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14;p17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indent="144779" defTabSz="868680">
              <a:lnSpc>
                <a:spcPct val="200000"/>
              </a:lnSpc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Analysis of Problem Statement</a:t>
            </a:r>
          </a:p>
        </p:txBody>
      </p:sp>
      <p:sp>
        <p:nvSpPr>
          <p:cNvPr id="155" name="Google Shape;115;p17"/>
          <p:cNvSpPr txBox="1"/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</p:spPr>
        <p:txBody>
          <a:bodyPr/>
          <a:lstStyle/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Technology Stack Components</a:t>
            </a:r>
          </a:p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Frontend: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web application for image upload and user interface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Technologies: React Native, Flutter</a:t>
            </a:r>
          </a:p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Backend: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Server to handle requests, process images, and communicate with AI models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Technologies: Node.js, Python (Django, Flask), </a:t>
            </a:r>
          </a:p>
          <a:p>
            <a:pPr lvl="1" marL="0" indent="558800">
              <a:lnSpc>
                <a:spcPct val="90000"/>
              </a:lnSpc>
              <a:buSzTx/>
              <a:buNone/>
              <a:defRPr b="1" sz="1800"/>
            </a:pPr>
            <a:r>
              <a:t>AI and Machine Learning: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Deep Learning frameworks for model development and training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Technologies: TensorFlow, PyTorch, Keras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Pretrained convolutional neural networks (CNNs) tailored for dermatology image classification</a:t>
            </a:r>
          </a:p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Image Processing: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Tools for image preprocessing (resizing, normalization, quality enhancement)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Libraries: OpenCV, PIL (Python Imaging Library)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14;p17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indent="144779" defTabSz="868680">
              <a:lnSpc>
                <a:spcPct val="200000"/>
              </a:lnSpc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Github Link</a:t>
            </a:r>
          </a:p>
        </p:txBody>
      </p:sp>
      <p:grpSp>
        <p:nvGrpSpPr>
          <p:cNvPr id="160" name="Google Shape;115;p17"/>
          <p:cNvGrpSpPr/>
          <p:nvPr/>
        </p:nvGrpSpPr>
        <p:grpSpPr>
          <a:xfrm>
            <a:off x="858523" y="1143000"/>
            <a:ext cx="10576553" cy="4178300"/>
            <a:chOff x="0" y="0"/>
            <a:chExt cx="10576552" cy="4178300"/>
          </a:xfrm>
        </p:grpSpPr>
        <p:sp>
          <p:nvSpPr>
            <p:cNvPr id="158" name="Rectangle"/>
            <p:cNvSpPr/>
            <p:nvPr/>
          </p:nvSpPr>
          <p:spPr>
            <a:xfrm>
              <a:off x="0" y="0"/>
              <a:ext cx="10576553" cy="417830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59" name="The Github link provided should have public access permission.…"/>
            <p:cNvSpPr txBox="1"/>
            <p:nvPr/>
          </p:nvSpPr>
          <p:spPr>
            <a:xfrm>
              <a:off x="12700" y="12700"/>
              <a:ext cx="10551153" cy="4152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normAutofit fontScale="100000" lnSpcReduction="0"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"/>
                </a:defRPr>
              </a:pPr>
              <a:r>
                <a:t>The Github link provided should have public access permission.</a:t>
              </a:r>
              <a:endParaRPr sz="2400">
                <a:latin typeface="Verdana"/>
                <a:ea typeface="Verdana"/>
                <a:cs typeface="Verdana"/>
                <a:sym typeface="Verdana"/>
              </a:endParaRPr>
            </a:p>
            <a:p>
              <a:pPr>
                <a:defRPr sz="2400">
                  <a:latin typeface="Cambria"/>
                  <a:ea typeface="Cambria"/>
                  <a:cs typeface="Cambria"/>
                  <a:sym typeface="Cambria"/>
                </a:defRPr>
              </a:pPr>
            </a:p>
            <a:p>
              <a:pPr>
                <a:defRPr>
                  <a:latin typeface="+mn-lt"/>
                  <a:ea typeface="+mn-ea"/>
                  <a:cs typeface="+mn-cs"/>
                  <a:sym typeface="Helvetica"/>
                </a:defRPr>
              </a:pPr>
              <a:r>
                <a:t>Github Link</a:t>
              </a:r>
              <a:endParaRPr>
                <a:latin typeface="Verdana"/>
                <a:ea typeface="Verdana"/>
                <a:cs typeface="Verdana"/>
                <a:sym typeface="Verdana"/>
              </a:endParaRPr>
            </a:p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  <a:r>
                <a:t>https://github.com/thesyedbasim/Al-based-tool-for-preliminary-diagnosis-of-Dermatological-manifestations.git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14;p17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Timeline of the Project (Gantt Chart)</a:t>
            </a:r>
          </a:p>
        </p:txBody>
      </p:sp>
      <p:sp>
        <p:nvSpPr>
          <p:cNvPr id="163" name="Google Shape;115;p17"/>
          <p:cNvSpPr txBox="1"/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</p:spPr>
        <p:txBody>
          <a:bodyPr/>
          <a:lstStyle/>
          <a:p>
            <a:pPr marL="0" indent="152400" algn="just">
              <a:spcBef>
                <a:spcPts val="0"/>
              </a:spcBef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</a:p>
        </p:txBody>
      </p:sp>
      <p:pic>
        <p:nvPicPr>
          <p:cNvPr id="1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0485" y="1803861"/>
            <a:ext cx="8429109" cy="3117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44;p22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References (IEEE Paper format)</a:t>
            </a:r>
          </a:p>
        </p:txBody>
      </p:sp>
      <p:sp>
        <p:nvSpPr>
          <p:cNvPr id="167" name="Google Shape;145;p22"/>
          <p:cNvSpPr txBox="1"/>
          <p:nvPr>
            <p:ph type="body" idx="1"/>
          </p:nvPr>
        </p:nvSpPr>
        <p:spPr>
          <a:xfrm>
            <a:off x="812800" y="1142998"/>
            <a:ext cx="10668000" cy="4953005"/>
          </a:xfrm>
          <a:prstGeom prst="rect">
            <a:avLst/>
          </a:prstGeom>
        </p:spPr>
        <p:txBody>
          <a:bodyPr/>
          <a:lstStyle/>
          <a:p>
            <a:pPr/>
            <a:r>
              <a:t>[1] Sánchez-Montalvá, M.P., et al. (2024). "A systematic review and meta-analysis of artificial intelligence algorithms for skin cancer classification." </a:t>
            </a:r>
            <a:r>
              <a:rPr i="1"/>
              <a:t>Nature Digital Medicine</a:t>
            </a:r>
            <a:r>
              <a:t>, 11, 103.</a:t>
            </a:r>
          </a:p>
          <a:p>
            <a:pPr/>
          </a:p>
          <a:p>
            <a:pPr/>
            <a:r>
              <a:t>[2] Nature Scientific Reports (2025). "Skin cancer detection using dermoscopic images with convolutional neural networks." </a:t>
            </a:r>
            <a:r>
              <a:rPr i="1"/>
              <a:t>Scientific Reports</a:t>
            </a:r>
            <a:r>
              <a:t>, March 2025.</a:t>
            </a:r>
          </a:p>
          <a:p>
            <a:pPr/>
          </a:p>
          <a:p>
            <a:pPr/>
            <a:r>
              <a:t>[3] Detection of Skin Cancer Based on Skin Lesion Images Using Deep Learning (2022). </a:t>
            </a:r>
            <a:r>
              <a:rPr i="1"/>
              <a:t>PMC Article</a:t>
            </a:r>
            <a:r>
              <a:t>, PMC9324455, June 24, 2022.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2810" y="1441315"/>
            <a:ext cx="3893308" cy="39354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